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323" r:id="rId2"/>
    <p:sldId id="344" r:id="rId3"/>
    <p:sldId id="325" r:id="rId4"/>
    <p:sldId id="326" r:id="rId5"/>
    <p:sldId id="349" r:id="rId6"/>
    <p:sldId id="328" r:id="rId7"/>
    <p:sldId id="350" r:id="rId8"/>
    <p:sldId id="330" r:id="rId9"/>
    <p:sldId id="347" r:id="rId10"/>
    <p:sldId id="332" r:id="rId11"/>
    <p:sldId id="345" r:id="rId12"/>
    <p:sldId id="34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80D11D-E186-0FE4-9D9B-6D8D6C11E12B}" v="51" dt="2026-03-04T18:06:46.0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49"/>
    <p:restoredTop sz="94610"/>
  </p:normalViewPr>
  <p:slideViewPr>
    <p:cSldViewPr snapToGrid="0" snapToObjects="1">
      <p:cViewPr>
        <p:scale>
          <a:sx n="180" d="100"/>
          <a:sy n="180" d="100"/>
        </p:scale>
        <p:origin x="24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100" b="1">
                <a:solidFill>
                  <a:srgbClr val="F5EDE0"/>
                </a:solidFill>
                <a:latin typeface="Georgia"/>
              </a:defRPr>
            </a:pPr>
            <a:r>
              <a:rPr lang="en-US" sz="1100" b="1" dirty="0">
                <a:solidFill>
                  <a:srgbClr val="F5EDE0"/>
                </a:solidFill>
                <a:latin typeface="Georgia"/>
              </a:rPr>
              <a:t>SMR Quarterly Financials: Revenue vs Operating Loss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Revenue ($M)</c:v>
          </c:tx>
          <c:spPr>
            <a:solidFill>
              <a:srgbClr val="7A8B6F"/>
            </a:solidFill>
          </c:spPr>
          <c:invertIfNegative val="1"/>
          <c:dLbls>
            <c:numFmt formatCode="\$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7A8B6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Q4 2024</c:v>
              </c:pt>
              <c:pt idx="1">
                <c:v>Q1 2025</c:v>
              </c:pt>
              <c:pt idx="2">
                <c:v>Q2 2025</c:v>
              </c:pt>
              <c:pt idx="3">
                <c:v>Q3 2025</c:v>
              </c:pt>
            </c:strLit>
          </c:cat>
          <c:val>
            <c:numLit>
              <c:formatCode>General</c:formatCode>
              <c:ptCount val="4"/>
              <c:pt idx="0">
                <c:v>11.1</c:v>
              </c:pt>
              <c:pt idx="1">
                <c:v>9.5</c:v>
              </c:pt>
              <c:pt idx="2">
                <c:v>8.9</c:v>
              </c:pt>
              <c:pt idx="3">
                <c:v>8.1999999999999993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F1B-1447-866E-D7D404DFD79D}"/>
            </c:ext>
          </c:extLst>
        </c:ser>
        <c:ser>
          <c:idx val="1"/>
          <c:order val="1"/>
          <c:tx>
            <c:v>Operating Loss ($M)</c:v>
          </c:tx>
          <c:spPr>
            <a:solidFill>
              <a:srgbClr val="8C4A4A"/>
            </a:solidFill>
          </c:spPr>
          <c:invertIfNegative val="1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8C4A4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Q4 2024</c:v>
              </c:pt>
              <c:pt idx="1">
                <c:v>Q1 2025</c:v>
              </c:pt>
              <c:pt idx="2">
                <c:v>Q2 2025</c:v>
              </c:pt>
              <c:pt idx="3">
                <c:v>Q3 2025</c:v>
              </c:pt>
            </c:strLit>
          </c:cat>
          <c:val>
            <c:numLit>
              <c:formatCode>General</c:formatCode>
              <c:ptCount val="4"/>
              <c:pt idx="0">
                <c:v>85</c:v>
              </c:pt>
              <c:pt idx="1">
                <c:v>120</c:v>
              </c:pt>
              <c:pt idx="2">
                <c:v>145</c:v>
              </c:pt>
              <c:pt idx="3">
                <c:v>538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F1B-1447-866E-D7D404DFD7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E8DCC8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\$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E8DCC8"/>
                </a:solidFill>
                <a:latin typeface="Calibri"/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E8DCC8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100" b="1">
                <a:solidFill>
                  <a:srgbClr val="F5EDE0"/>
                </a:solidFill>
                <a:latin typeface="Georgia"/>
              </a:defRPr>
            </a:pPr>
            <a:r>
              <a:rPr lang="en-US" sz="1100" b="1" dirty="0">
                <a:solidFill>
                  <a:srgbClr val="F5EDE0"/>
                </a:solidFill>
                <a:latin typeface="Georgia"/>
              </a:rPr>
              <a:t>TCEHY Financial Profile ($B)  |  Leg 3 Fundamentals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Tencent (TCEHY)</c:v>
          </c:tx>
          <c:spPr>
            <a:solidFill>
              <a:srgbClr val="7A8B6F"/>
            </a:solidFill>
          </c:spPr>
          <c:invertIfNegative val="1"/>
          <c:dLbls>
            <c:numFmt formatCode="\$#,##0.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5EDE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TTM Revenue</c:v>
              </c:pt>
              <c:pt idx="1">
                <c:v>Operating Income</c:v>
              </c:pt>
              <c:pt idx="2">
                <c:v>Free Cash Flow</c:v>
              </c:pt>
              <c:pt idx="3">
                <c:v>Intl Games Rev</c:v>
              </c:pt>
            </c:strLit>
          </c:cat>
          <c:val>
            <c:numLit>
              <c:formatCode>General</c:formatCode>
              <c:ptCount val="4"/>
              <c:pt idx="0">
                <c:v>102.5</c:v>
              </c:pt>
              <c:pt idx="1">
                <c:v>30.8</c:v>
              </c:pt>
              <c:pt idx="2">
                <c:v>29.3</c:v>
              </c:pt>
              <c:pt idx="3">
                <c:v>14.7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A79-CA4D-9BEA-58D31889AF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E8DCC8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\$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E8DCC8"/>
                </a:solidFill>
                <a:latin typeface="Calibri"/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E8DCC8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F5EDE0"/>
                </a:solidFill>
                <a:latin typeface="Georgia"/>
              </a:defRPr>
            </a:pPr>
            <a:endParaRPr lang="en-US" sz="1000" b="1" dirty="0">
              <a:solidFill>
                <a:srgbClr val="F5EDE0"/>
              </a:solidFill>
              <a:latin typeface="Georgia"/>
            </a:endParaRP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v>Allocation</c:v>
          </c:tx>
          <c:dPt>
            <c:idx val="0"/>
            <c:bubble3D val="0"/>
            <c:spPr>
              <a:solidFill>
                <a:srgbClr val="8B5E3C"/>
              </a:solidFill>
            </c:spPr>
            <c:extLst>
              <c:ext xmlns:c16="http://schemas.microsoft.com/office/drawing/2014/chart" uri="{C3380CC4-5D6E-409C-BE32-E72D297353CC}">
                <c16:uniqueId val="{00000001-8B20-EC4E-A02A-A9E218597109}"/>
              </c:ext>
            </c:extLst>
          </c:dPt>
          <c:dPt>
            <c:idx val="1"/>
            <c:bubble3D val="0"/>
            <c:spPr>
              <a:solidFill>
                <a:srgbClr val="A0694A"/>
              </a:solidFill>
            </c:spPr>
            <c:extLst>
              <c:ext xmlns:c16="http://schemas.microsoft.com/office/drawing/2014/chart" uri="{C3380CC4-5D6E-409C-BE32-E72D297353CC}">
                <c16:uniqueId val="{00000003-8B20-EC4E-A02A-A9E218597109}"/>
              </c:ext>
            </c:extLst>
          </c:dPt>
          <c:dPt>
            <c:idx val="2"/>
            <c:bubble3D val="0"/>
            <c:spPr>
              <a:solidFill>
                <a:srgbClr val="8C4A4A"/>
              </a:solidFill>
            </c:spPr>
            <c:extLst>
              <c:ext xmlns:c16="http://schemas.microsoft.com/office/drawing/2014/chart" uri="{C3380CC4-5D6E-409C-BE32-E72D297353CC}">
                <c16:uniqueId val="{00000005-8B20-EC4E-A02A-A9E218597109}"/>
              </c:ext>
            </c:extLst>
          </c:dPt>
          <c:dPt>
            <c:idx val="3"/>
            <c:bubble3D val="0"/>
            <c:spPr>
              <a:solidFill>
                <a:srgbClr val="7A8B6F"/>
              </a:solidFill>
            </c:spPr>
            <c:extLst>
              <c:ext xmlns:c16="http://schemas.microsoft.com/office/drawing/2014/chart" uri="{C3380CC4-5D6E-409C-BE32-E72D297353CC}">
                <c16:uniqueId val="{00000007-8B20-EC4E-A02A-A9E218597109}"/>
              </c:ext>
            </c:extLst>
          </c:dPt>
          <c:dPt>
            <c:idx val="4"/>
            <c:bubble3D val="0"/>
            <c:spPr>
              <a:solidFill>
                <a:srgbClr val="6A7B5F"/>
              </a:solidFill>
            </c:spPr>
            <c:extLst>
              <c:ext xmlns:c16="http://schemas.microsoft.com/office/drawing/2014/chart" uri="{C3380CC4-5D6E-409C-BE32-E72D297353CC}">
                <c16:uniqueId val="{00000009-8B20-EC4E-A02A-A9E218597109}"/>
              </c:ext>
            </c:extLst>
          </c:dPt>
          <c:dPt>
            <c:idx val="5"/>
            <c:bubble3D val="0"/>
            <c:spPr>
              <a:solidFill>
                <a:srgbClr val="C4944A"/>
              </a:solidFill>
            </c:spPr>
            <c:extLst>
              <c:ext xmlns:c16="http://schemas.microsoft.com/office/drawing/2014/chart" uri="{C3380CC4-5D6E-409C-BE32-E72D297353CC}">
                <c16:uniqueId val="{0000000B-8B20-EC4E-A02A-A9E218597109}"/>
              </c:ext>
            </c:extLst>
          </c:dPt>
          <c:dPt>
            <c:idx val="6"/>
            <c:bubble3D val="0"/>
            <c:spPr>
              <a:solidFill>
                <a:srgbClr val="5C3D2E"/>
              </a:solidFill>
            </c:spPr>
            <c:extLst>
              <c:ext xmlns:c16="http://schemas.microsoft.com/office/drawing/2014/chart" uri="{C3380CC4-5D6E-409C-BE32-E72D297353CC}">
                <c16:uniqueId val="{0000000D-8B20-EC4E-A02A-A9E21859710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E8DCC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7"/>
              <c:pt idx="0">
                <c:v>DVN 10%</c:v>
              </c:pt>
              <c:pt idx="1">
                <c:v>FANG 10%</c:v>
              </c:pt>
              <c:pt idx="2">
                <c:v>SMR 8%</c:v>
              </c:pt>
              <c:pt idx="3">
                <c:v>TCEHY 22%</c:v>
              </c:pt>
              <c:pt idx="4">
                <c:v>PDD 15%</c:v>
              </c:pt>
              <c:pt idx="5">
                <c:v>ANET 28%</c:v>
              </c:pt>
              <c:pt idx="6">
                <c:v>Cash 7%</c:v>
              </c:pt>
            </c:strLit>
          </c:cat>
          <c:val>
            <c:numLit>
              <c:formatCode>General</c:formatCode>
              <c:ptCount val="7"/>
              <c:pt idx="0">
                <c:v>10000</c:v>
              </c:pt>
              <c:pt idx="1">
                <c:v>10000</c:v>
              </c:pt>
              <c:pt idx="2">
                <c:v>8000</c:v>
              </c:pt>
              <c:pt idx="3">
                <c:v>22000</c:v>
              </c:pt>
              <c:pt idx="4">
                <c:v>15000</c:v>
              </c:pt>
              <c:pt idx="5">
                <c:v>28000</c:v>
              </c:pt>
              <c:pt idx="6">
                <c:v>7000</c:v>
              </c:pt>
            </c:numLit>
          </c:val>
          <c:extLst>
            <c:ext xmlns:c16="http://schemas.microsoft.com/office/drawing/2014/chart" uri="{C3380CC4-5D6E-409C-BE32-E72D297353CC}">
              <c16:uniqueId val="{0000000E-8B20-EC4E-A02A-A9E2185971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zero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F5EDE0"/>
                </a:solidFill>
                <a:latin typeface="Georgia"/>
              </a:defRPr>
            </a:pPr>
            <a:r>
              <a:rPr lang="en-US" sz="1000" b="1" dirty="0">
                <a:solidFill>
                  <a:srgbClr val="F5EDE0"/>
                </a:solidFill>
                <a:latin typeface="Georgia"/>
              </a:rPr>
              <a:t>Bull Case Upside vs Max Downside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Bull Upside</c:v>
          </c:tx>
          <c:spPr>
            <a:solidFill>
              <a:srgbClr val="7A8B6F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E8DCC8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DVN</c:v>
              </c:pt>
              <c:pt idx="1">
                <c:v>FANG</c:v>
              </c:pt>
              <c:pt idx="2">
                <c:v>SMR</c:v>
              </c:pt>
              <c:pt idx="3">
                <c:v>TCEHY</c:v>
              </c:pt>
              <c:pt idx="4">
                <c:v>PDD</c:v>
              </c:pt>
              <c:pt idx="5">
                <c:v>ANET</c:v>
              </c:pt>
            </c:strLit>
          </c:cat>
          <c:val>
            <c:numLit>
              <c:formatCode>General</c:formatCode>
              <c:ptCount val="6"/>
              <c:pt idx="0">
                <c:v>30</c:v>
              </c:pt>
              <c:pt idx="1">
                <c:v>30</c:v>
              </c:pt>
              <c:pt idx="2">
                <c:v>50</c:v>
              </c:pt>
              <c:pt idx="3">
                <c:v>25</c:v>
              </c:pt>
              <c:pt idx="4">
                <c:v>35</c:v>
              </c:pt>
              <c:pt idx="5">
                <c:v>30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6CF-3041-A4BC-885AE9364E6C}"/>
            </c:ext>
          </c:extLst>
        </c:ser>
        <c:ser>
          <c:idx val="1"/>
          <c:order val="1"/>
          <c:tx>
            <c:v>Max Downside</c:v>
          </c:tx>
          <c:spPr>
            <a:solidFill>
              <a:srgbClr val="8C4A4A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E8DCC8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DVN</c:v>
              </c:pt>
              <c:pt idx="1">
                <c:v>FANG</c:v>
              </c:pt>
              <c:pt idx="2">
                <c:v>SMR</c:v>
              </c:pt>
              <c:pt idx="3">
                <c:v>TCEHY</c:v>
              </c:pt>
              <c:pt idx="4">
                <c:v>PDD</c:v>
              </c:pt>
              <c:pt idx="5">
                <c:v>ANET</c:v>
              </c:pt>
            </c:strLit>
          </c:cat>
          <c:val>
            <c:numLit>
              <c:formatCode>General</c:formatCode>
              <c:ptCount val="6"/>
              <c:pt idx="0">
                <c:v>3</c:v>
              </c:pt>
              <c:pt idx="1">
                <c:v>3</c:v>
              </c:pt>
              <c:pt idx="2">
                <c:v>4</c:v>
              </c:pt>
              <c:pt idx="3">
                <c:v>2</c:v>
              </c:pt>
              <c:pt idx="4">
                <c:v>2</c:v>
              </c:pt>
              <c:pt idx="5">
                <c:v>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6CF-3041-A4BC-885AE9364E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E8DCC8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E8DCC8"/>
                </a:solidFill>
                <a:latin typeface="Calibri"/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E8DCC8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67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C1810"/>
            </a:gs>
            <a:gs pos="100000">
              <a:srgbClr val="1A0E0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Bar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C4944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opLine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C4944A">
              <a:alpha val="4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ideAccent"/>
          <p:cNvSpPr/>
          <p:nvPr/>
        </p:nvSpPr>
        <p:spPr>
          <a:xfrm>
            <a:off x="228600" y="228600"/>
            <a:ext cx="27432" cy="6400800"/>
          </a:xfrm>
          <a:prstGeom prst="rect">
            <a:avLst/>
          </a:prstGeom>
          <a:solidFill>
            <a:srgbClr val="C4944A">
              <a:alpha val="2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5EDE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E8DCC8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E8DCC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E8DCC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E8DCC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E8DCC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E8DCC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E8DCC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E8DCC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E8DCC8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8DCC8"/>
          </a:solidFill>
        </a:defRPr>
      </a:defPPr>
      <a:lvl1pPr marL="0" algn="l" defTabSz="914400" rtl="0" eaLnBrk="1" latinLnBrk="0" hangingPunct="1">
        <a:defRPr sz="1800" kern="1200">
          <a:solidFill>
            <a:srgbClr val="E8DCC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8DCC8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8DCC8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8DCC8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8DCC8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8DCC8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8DCC8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8DCC8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8DCC8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E7055873-48C1-8046-A609-29517B5125A3}"/>
              </a:ext>
            </a:extLst>
          </p:cNvPr>
          <p:cNvSpPr txBox="1"/>
          <p:nvPr/>
        </p:nvSpPr>
        <p:spPr>
          <a:xfrm>
            <a:off x="1016000" y="2032000"/>
            <a:ext cx="711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5EDE0"/>
                </a:solidFill>
                <a:latin typeface="Georgia"/>
              </a:rPr>
              <a:t>THE REALIGNMENT TRADE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0ED823-48C8-CE4F-8865-81E306226CCD}"/>
              </a:ext>
            </a:extLst>
          </p:cNvPr>
          <p:cNvSpPr txBox="1"/>
          <p:nvPr/>
        </p:nvSpPr>
        <p:spPr>
          <a:xfrm>
            <a:off x="1270000" y="3149600"/>
            <a:ext cx="660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C4944A"/>
                </a:solidFill>
                <a:latin typeface="Calibri"/>
                <a:cs typeface="Calibri"/>
              </a:rPr>
              <a:t>A Geopolitically-Driven $100,000 Multi-Leg Equity Portfolio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7D2196-34A4-B748-9342-1DC71BAE53DF}"/>
              </a:ext>
            </a:extLst>
          </p:cNvPr>
          <p:cNvSpPr/>
          <p:nvPr/>
        </p:nvSpPr>
        <p:spPr>
          <a:xfrm>
            <a:off x="3302000" y="3810000"/>
            <a:ext cx="2540000" cy="25400"/>
          </a:xfrm>
          <a:prstGeom prst="rect">
            <a:avLst/>
          </a:prstGeom>
          <a:solidFill>
            <a:srgbClr val="C494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1E59CA-F127-E244-A5E0-58315C864681}"/>
              </a:ext>
            </a:extLst>
          </p:cNvPr>
          <p:cNvSpPr txBox="1"/>
          <p:nvPr/>
        </p:nvSpPr>
        <p:spPr>
          <a:xfrm>
            <a:off x="1778000" y="4064000"/>
            <a:ext cx="5588000" cy="954107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r>
              <a:rPr lang="en-US" sz="1400" dirty="0">
                <a:solidFill>
                  <a:srgbClr val="E8DCC8"/>
                </a:solidFill>
                <a:latin typeface="Calibri"/>
                <a:cs typeface="Calibri"/>
              </a:rPr>
              <a:t>Drexel </a:t>
            </a:r>
            <a:r>
              <a:rPr lang="en-US" sz="1400" dirty="0" err="1">
                <a:solidFill>
                  <a:srgbClr val="E8DCC8"/>
                </a:solidFill>
                <a:latin typeface="Calibri"/>
                <a:cs typeface="Calibri"/>
              </a:rPr>
              <a:t>LeBow</a:t>
            </a:r>
            <a:r>
              <a:rPr lang="en-US" sz="1400" err="1">
                <a:solidFill>
                  <a:srgbClr val="E8DCC8"/>
                </a:solidFill>
                <a:latin typeface="Calibri"/>
                <a:cs typeface="Calibri"/>
              </a:rPr>
              <a:t> DSAB Research Challenge</a:t>
            </a:r>
            <a:r>
              <a:rPr lang="en-US" sz="1400" dirty="0">
                <a:solidFill>
                  <a:srgbClr val="E8DCC8"/>
                </a:solidFill>
                <a:latin typeface="Calibri"/>
                <a:cs typeface="Calibri"/>
              </a:rPr>
              <a:t>
Team: Halal Cart</a:t>
            </a:r>
            <a:endParaRPr lang="en-US"/>
          </a:p>
          <a:p>
            <a:r>
              <a:rPr lang="en-US" sz="1400">
                <a:solidFill>
                  <a:srgbClr val="E8DCC8"/>
                </a:solidFill>
                <a:latin typeface="Calibri"/>
                <a:cs typeface="Calibri"/>
              </a:rPr>
              <a:t>Will Walker, Will Zhang, Chase Kurtz</a:t>
            </a:r>
            <a:r>
              <a:rPr lang="en-US" sz="1400" dirty="0">
                <a:solidFill>
                  <a:srgbClr val="E8DCC8"/>
                </a:solidFill>
                <a:latin typeface="Calibri"/>
                <a:cs typeface="Calibri"/>
              </a:rPr>
              <a:t>
</a:t>
            </a:r>
            <a:endParaRPr lang="en-US" sz="1400">
              <a:solidFill>
                <a:srgbClr val="E8DCC8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10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A9B05E-C31D-6147-807D-3E6F299C7F6E}"/>
              </a:ext>
            </a:extLst>
          </p:cNvPr>
          <p:cNvSpPr txBox="1"/>
          <p:nvPr/>
        </p:nvSpPr>
        <p:spPr>
          <a:xfrm>
            <a:off x="635000" y="228600"/>
            <a:ext cx="787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F5EDE0"/>
                </a:solidFill>
                <a:latin typeface="Georgia"/>
              </a:rPr>
              <a:t>PORTFOLIO OVERVIEW &amp; STRATEGY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17A3232-E83B-2D40-AB56-FA1DEB62144B}"/>
              </a:ext>
            </a:extLst>
          </p:cNvPr>
          <p:cNvSpPr/>
          <p:nvPr/>
        </p:nvSpPr>
        <p:spPr>
          <a:xfrm>
            <a:off x="444500" y="634760"/>
            <a:ext cx="8255000" cy="6096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3A608E-E2C1-E648-85D2-CE77CF81A174}"/>
              </a:ext>
            </a:extLst>
          </p:cNvPr>
          <p:cNvSpPr txBox="1"/>
          <p:nvPr/>
        </p:nvSpPr>
        <p:spPr>
          <a:xfrm>
            <a:off x="596900" y="718580"/>
            <a:ext cx="8001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dirty="0">
                <a:solidFill>
                  <a:srgbClr val="E8DCC8"/>
                </a:solidFill>
                <a:latin typeface="Calibri"/>
                <a:cs typeface="Calibri"/>
              </a:rPr>
              <a:t>Investment Philosophy: Geopolitical alpha from multilateral realignment. Every position anchored to a specific macro catalyst, not a passive sector bet. Targeting S&amp;P 500 outperformance over 6-18 months.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0F863B-6960-7E43-9F5C-D687F38264F7}"/>
              </a:ext>
            </a:extLst>
          </p:cNvPr>
          <p:cNvSpPr txBox="1"/>
          <p:nvPr/>
        </p:nvSpPr>
        <p:spPr>
          <a:xfrm>
            <a:off x="444500" y="123825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rgbClr val="C4944A"/>
                </a:solidFill>
                <a:latin typeface="Georgia"/>
              </a:rPr>
              <a:t>Capital Allocation  |  $100,000 Total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24FDBF3-680D-3147-B488-F29E17C78D1F}"/>
              </a:ext>
            </a:extLst>
          </p:cNvPr>
          <p:cNvSpPr/>
          <p:nvPr/>
        </p:nvSpPr>
        <p:spPr>
          <a:xfrm>
            <a:off x="463550" y="1580386"/>
            <a:ext cx="1549400" cy="1206500"/>
          </a:xfrm>
          <a:prstGeom prst="roundRect">
            <a:avLst/>
          </a:prstGeom>
          <a:solidFill>
            <a:srgbClr val="8B5E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CDB1F9-5574-D54E-9F6F-40B723BD9400}"/>
              </a:ext>
            </a:extLst>
          </p:cNvPr>
          <p:cNvSpPr txBox="1"/>
          <p:nvPr/>
        </p:nvSpPr>
        <p:spPr>
          <a:xfrm>
            <a:off x="527050" y="1574264"/>
            <a:ext cx="1422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5EDE0"/>
                </a:solidFill>
                <a:latin typeface="Georgia"/>
              </a:rPr>
              <a:t>20%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FF16A-9172-A345-A811-1BF32A46ED9B}"/>
              </a:ext>
            </a:extLst>
          </p:cNvPr>
          <p:cNvSpPr txBox="1"/>
          <p:nvPr/>
        </p:nvSpPr>
        <p:spPr>
          <a:xfrm>
            <a:off x="508000" y="1897862"/>
            <a:ext cx="142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dirty="0">
                <a:solidFill>
                  <a:srgbClr val="F5EDE0"/>
                </a:solidFill>
                <a:latin typeface="Calibri"/>
                <a:cs typeface="Calibri"/>
              </a:rPr>
              <a:t>$20,000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CB88B1-951A-A340-AC85-69635AF52D8D}"/>
              </a:ext>
            </a:extLst>
          </p:cNvPr>
          <p:cNvSpPr txBox="1"/>
          <p:nvPr/>
        </p:nvSpPr>
        <p:spPr>
          <a:xfrm>
            <a:off x="508000" y="2286545"/>
            <a:ext cx="142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 dirty="0">
                <a:solidFill>
                  <a:srgbClr val="F5EDE0"/>
                </a:solidFill>
                <a:latin typeface="Calibri"/>
                <a:cs typeface="Calibri"/>
              </a:rPr>
              <a:t>Domestic Energy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EF8709-77BD-2445-9FB6-85E35D76E78F}"/>
              </a:ext>
            </a:extLst>
          </p:cNvPr>
          <p:cNvSpPr txBox="1"/>
          <p:nvPr/>
        </p:nvSpPr>
        <p:spPr>
          <a:xfrm>
            <a:off x="527050" y="2100070"/>
            <a:ext cx="1422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 dirty="0">
                <a:solidFill>
                  <a:srgbClr val="E8DCC8"/>
                </a:solidFill>
                <a:latin typeface="Calibri"/>
                <a:cs typeface="Calibri"/>
              </a:rPr>
              <a:t>DVN + FANG (Calls)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F1444B-2C7B-494C-85E0-EA2F080C52AD}"/>
              </a:ext>
            </a:extLst>
          </p:cNvPr>
          <p:cNvSpPr/>
          <p:nvPr/>
        </p:nvSpPr>
        <p:spPr>
          <a:xfrm>
            <a:off x="2095500" y="1593850"/>
            <a:ext cx="1549400" cy="1206500"/>
          </a:xfrm>
          <a:prstGeom prst="roundRect">
            <a:avLst/>
          </a:prstGeom>
          <a:solidFill>
            <a:srgbClr val="8C4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9D593F-0D09-D84F-B5A7-38B73F5CB4A9}"/>
              </a:ext>
            </a:extLst>
          </p:cNvPr>
          <p:cNvSpPr txBox="1"/>
          <p:nvPr/>
        </p:nvSpPr>
        <p:spPr>
          <a:xfrm>
            <a:off x="2168144" y="1586484"/>
            <a:ext cx="1422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5EDE0"/>
                </a:solidFill>
                <a:latin typeface="Georgia"/>
              </a:rPr>
              <a:t>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58749A-778E-7944-8FCD-05F229466FCA}"/>
              </a:ext>
            </a:extLst>
          </p:cNvPr>
          <p:cNvSpPr txBox="1"/>
          <p:nvPr/>
        </p:nvSpPr>
        <p:spPr>
          <a:xfrm>
            <a:off x="2168144" y="1973070"/>
            <a:ext cx="142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F5EDE0"/>
                </a:solidFill>
                <a:latin typeface="Calibri"/>
                <a:cs typeface="Calibri"/>
              </a:rPr>
              <a:t>$8,000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756D23-B3C2-644E-8AA3-FCE9A9D05C03}"/>
              </a:ext>
            </a:extLst>
          </p:cNvPr>
          <p:cNvSpPr txBox="1"/>
          <p:nvPr/>
        </p:nvSpPr>
        <p:spPr>
          <a:xfrm>
            <a:off x="2168144" y="2227070"/>
            <a:ext cx="142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F5EDE0"/>
                </a:solidFill>
                <a:latin typeface="Calibri"/>
                <a:cs typeface="Calibri"/>
              </a:rPr>
              <a:t>Short Nuclear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CFF8A5-9DAB-8E4D-934F-318D92742627}"/>
              </a:ext>
            </a:extLst>
          </p:cNvPr>
          <p:cNvSpPr txBox="1"/>
          <p:nvPr/>
        </p:nvSpPr>
        <p:spPr>
          <a:xfrm>
            <a:off x="2168144" y="2455670"/>
            <a:ext cx="1422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E8DCC8"/>
                </a:solidFill>
                <a:latin typeface="Calibri"/>
                <a:cs typeface="Calibri"/>
              </a:rPr>
              <a:t>NuScale (SMR)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91452AB-1164-0B42-887F-5D8FE00C2F64}"/>
              </a:ext>
            </a:extLst>
          </p:cNvPr>
          <p:cNvSpPr/>
          <p:nvPr/>
        </p:nvSpPr>
        <p:spPr>
          <a:xfrm>
            <a:off x="3755644" y="1535684"/>
            <a:ext cx="1549400" cy="1206500"/>
          </a:xfrm>
          <a:prstGeom prst="roundRect">
            <a:avLst/>
          </a:prstGeom>
          <a:solidFill>
            <a:srgbClr val="7A8B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CA8919-25A9-D842-81C2-A1B148278070}"/>
              </a:ext>
            </a:extLst>
          </p:cNvPr>
          <p:cNvSpPr txBox="1"/>
          <p:nvPr/>
        </p:nvSpPr>
        <p:spPr>
          <a:xfrm>
            <a:off x="3819144" y="1586484"/>
            <a:ext cx="1422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5EDE0"/>
                </a:solidFill>
                <a:latin typeface="Georgia"/>
              </a:rPr>
              <a:t>37%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955295-070F-5243-8BB0-08C7EC3B7A51}"/>
              </a:ext>
            </a:extLst>
          </p:cNvPr>
          <p:cNvSpPr txBox="1"/>
          <p:nvPr/>
        </p:nvSpPr>
        <p:spPr>
          <a:xfrm>
            <a:off x="3819144" y="1973070"/>
            <a:ext cx="142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F5EDE0"/>
                </a:solidFill>
                <a:latin typeface="Calibri"/>
                <a:cs typeface="Calibri"/>
              </a:rPr>
              <a:t>$37,000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9CD76A-9A81-1543-9D56-7E6977B195B7}"/>
              </a:ext>
            </a:extLst>
          </p:cNvPr>
          <p:cNvSpPr txBox="1"/>
          <p:nvPr/>
        </p:nvSpPr>
        <p:spPr>
          <a:xfrm>
            <a:off x="3819144" y="2227070"/>
            <a:ext cx="142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F5EDE0"/>
                </a:solidFill>
                <a:latin typeface="Calibri"/>
                <a:cs typeface="Calibri"/>
              </a:rPr>
              <a:t>China Tech/Commerce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DC2139-BFA2-4942-9721-51D59C9C44E1}"/>
              </a:ext>
            </a:extLst>
          </p:cNvPr>
          <p:cNvSpPr txBox="1"/>
          <p:nvPr/>
        </p:nvSpPr>
        <p:spPr>
          <a:xfrm>
            <a:off x="3819144" y="2455670"/>
            <a:ext cx="1422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E8DCC8"/>
                </a:solidFill>
                <a:latin typeface="Calibri"/>
                <a:cs typeface="Calibri"/>
              </a:rPr>
              <a:t>TCEHY + PDD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A81D009-5CCF-9341-8A59-EBF113DED8F0}"/>
              </a:ext>
            </a:extLst>
          </p:cNvPr>
          <p:cNvSpPr/>
          <p:nvPr/>
        </p:nvSpPr>
        <p:spPr>
          <a:xfrm>
            <a:off x="5406644" y="1535684"/>
            <a:ext cx="1549400" cy="1206500"/>
          </a:xfrm>
          <a:prstGeom prst="roundRect">
            <a:avLst/>
          </a:prstGeom>
          <a:solidFill>
            <a:srgbClr val="C494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B04EAD-9AD0-A241-ABBE-A5CAB909F904}"/>
              </a:ext>
            </a:extLst>
          </p:cNvPr>
          <p:cNvSpPr txBox="1"/>
          <p:nvPr/>
        </p:nvSpPr>
        <p:spPr>
          <a:xfrm>
            <a:off x="5470144" y="1586484"/>
            <a:ext cx="1422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5EDE0"/>
                </a:solidFill>
                <a:latin typeface="Georgia"/>
              </a:rPr>
              <a:t>28%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4F357A-A501-6343-9E54-28514FFA712C}"/>
              </a:ext>
            </a:extLst>
          </p:cNvPr>
          <p:cNvSpPr txBox="1"/>
          <p:nvPr/>
        </p:nvSpPr>
        <p:spPr>
          <a:xfrm>
            <a:off x="5470144" y="1973070"/>
            <a:ext cx="142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F5EDE0"/>
                </a:solidFill>
                <a:latin typeface="Calibri"/>
                <a:cs typeface="Calibri"/>
              </a:rPr>
              <a:t>$28,000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F7E89E-BAD1-664F-8C5E-43BC64F8024F}"/>
              </a:ext>
            </a:extLst>
          </p:cNvPr>
          <p:cNvSpPr txBox="1"/>
          <p:nvPr/>
        </p:nvSpPr>
        <p:spPr>
          <a:xfrm>
            <a:off x="5470144" y="2227070"/>
            <a:ext cx="142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F5EDE0"/>
                </a:solidFill>
                <a:latin typeface="Calibri"/>
                <a:cs typeface="Calibri"/>
              </a:rPr>
              <a:t>AI Infrastructure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B9972A-23CA-D441-9428-A4E61F0D807F}"/>
              </a:ext>
            </a:extLst>
          </p:cNvPr>
          <p:cNvSpPr txBox="1"/>
          <p:nvPr/>
        </p:nvSpPr>
        <p:spPr>
          <a:xfrm>
            <a:off x="5470144" y="2455670"/>
            <a:ext cx="1422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E8DCC8"/>
                </a:solidFill>
                <a:latin typeface="Calibri"/>
                <a:cs typeface="Calibri"/>
              </a:rPr>
              <a:t>Arista (ANET)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FD2031A-A4B0-E441-9763-FA06E20DB4FA}"/>
              </a:ext>
            </a:extLst>
          </p:cNvPr>
          <p:cNvSpPr/>
          <p:nvPr/>
        </p:nvSpPr>
        <p:spPr>
          <a:xfrm>
            <a:off x="7047738" y="1543050"/>
            <a:ext cx="1549400" cy="1206500"/>
          </a:xfrm>
          <a:prstGeom prst="roundRect">
            <a:avLst/>
          </a:prstGeom>
          <a:solidFill>
            <a:srgbClr val="5C3D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DFDED3-68C9-AE40-8428-051E02D4825C}"/>
              </a:ext>
            </a:extLst>
          </p:cNvPr>
          <p:cNvSpPr txBox="1"/>
          <p:nvPr/>
        </p:nvSpPr>
        <p:spPr>
          <a:xfrm>
            <a:off x="7112000" y="1536700"/>
            <a:ext cx="1422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5EDE0"/>
                </a:solidFill>
                <a:latin typeface="Georgia"/>
              </a:rPr>
              <a:t>7%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03310E-5A1C-BF4A-8655-787F38729B4F}"/>
              </a:ext>
            </a:extLst>
          </p:cNvPr>
          <p:cNvSpPr txBox="1"/>
          <p:nvPr/>
        </p:nvSpPr>
        <p:spPr>
          <a:xfrm>
            <a:off x="7112000" y="1892300"/>
            <a:ext cx="142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dirty="0">
                <a:solidFill>
                  <a:srgbClr val="F5EDE0"/>
                </a:solidFill>
                <a:latin typeface="Calibri"/>
                <a:cs typeface="Calibri"/>
              </a:rPr>
              <a:t>$7,000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2AE367-1DA6-C448-88B1-2A45551A05D8}"/>
              </a:ext>
            </a:extLst>
          </p:cNvPr>
          <p:cNvSpPr txBox="1"/>
          <p:nvPr/>
        </p:nvSpPr>
        <p:spPr>
          <a:xfrm>
            <a:off x="7112000" y="2182156"/>
            <a:ext cx="142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F5EDE0"/>
                </a:solidFill>
                <a:latin typeface="Calibri"/>
                <a:cs typeface="Calibri"/>
              </a:rPr>
              <a:t>LEG 5: Cash Reserve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841A46-F5DB-144C-9345-696C35F5AF37}"/>
              </a:ext>
            </a:extLst>
          </p:cNvPr>
          <p:cNvSpPr txBox="1"/>
          <p:nvPr/>
        </p:nvSpPr>
        <p:spPr>
          <a:xfrm>
            <a:off x="7112000" y="2438359"/>
            <a:ext cx="1422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900" dirty="0">
                <a:solidFill>
                  <a:srgbClr val="E8DCC8"/>
                </a:solidFill>
                <a:latin typeface="Calibri"/>
                <a:cs typeface="Calibri"/>
              </a:rPr>
              <a:t>Disciplined Reentry Only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F0885F-C9BC-1745-96AF-D2CA6CAFF8BD}"/>
              </a:ext>
            </a:extLst>
          </p:cNvPr>
          <p:cNvSpPr txBox="1"/>
          <p:nvPr/>
        </p:nvSpPr>
        <p:spPr>
          <a:xfrm>
            <a:off x="444500" y="2869184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 dirty="0">
                <a:solidFill>
                  <a:srgbClr val="C4944A"/>
                </a:solidFill>
                <a:latin typeface="Georgia"/>
              </a:rPr>
              <a:t>Three Core Dislocations Driving the Portfolio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0ACE77B-305A-2F45-A2F6-110B573F8AE0}"/>
              </a:ext>
            </a:extLst>
          </p:cNvPr>
          <p:cNvSpPr/>
          <p:nvPr/>
        </p:nvSpPr>
        <p:spPr>
          <a:xfrm>
            <a:off x="431800" y="3732276"/>
            <a:ext cx="2705100" cy="10795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F946DD-2C81-5F48-8C54-3840310961B3}"/>
              </a:ext>
            </a:extLst>
          </p:cNvPr>
          <p:cNvSpPr txBox="1"/>
          <p:nvPr/>
        </p:nvSpPr>
        <p:spPr>
          <a:xfrm>
            <a:off x="596900" y="3241323"/>
            <a:ext cx="2501900" cy="6001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100" dirty="0"/>
              <a:t>First, tensions between the U.S. and major energy producers are reshaping global oil supply dynamics.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DA836D-272B-554B-A668-34961B4AA793}"/>
              </a:ext>
            </a:extLst>
          </p:cNvPr>
          <p:cNvSpPr txBox="1"/>
          <p:nvPr/>
        </p:nvSpPr>
        <p:spPr>
          <a:xfrm>
            <a:off x="596900" y="3955871"/>
            <a:ext cx="2501900" cy="369332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algn="l"/>
            <a:r>
              <a:rPr lang="en-US" sz="900" dirty="0">
                <a:solidFill>
                  <a:srgbClr val="E8DCC8"/>
                </a:solidFill>
                <a:latin typeface="Calibri"/>
                <a:cs typeface="Calibri"/>
              </a:rPr>
              <a:t>Maduro capture Jan 3, 2026 structurally alters Venezuelan supply. 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3E109A7-7765-6341-8EFA-A2C9375ECDF5}"/>
              </a:ext>
            </a:extLst>
          </p:cNvPr>
          <p:cNvSpPr/>
          <p:nvPr/>
        </p:nvSpPr>
        <p:spPr>
          <a:xfrm>
            <a:off x="3276600" y="3689439"/>
            <a:ext cx="2705100" cy="10795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713A26-5FAD-2F42-8C25-39B5A0A2A2FC}"/>
              </a:ext>
            </a:extLst>
          </p:cNvPr>
          <p:cNvSpPr txBox="1"/>
          <p:nvPr/>
        </p:nvSpPr>
        <p:spPr>
          <a:xfrm>
            <a:off x="3346450" y="3143083"/>
            <a:ext cx="25019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100" dirty="0"/>
              <a:t>Second, China is strengthening economic relationships with countries outside the United States, creating new trade flows and investment opportunities.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AF786E-FA57-8F41-9BDE-4D9CBBB47B50}"/>
              </a:ext>
            </a:extLst>
          </p:cNvPr>
          <p:cNvSpPr txBox="1"/>
          <p:nvPr/>
        </p:nvSpPr>
        <p:spPr>
          <a:xfrm>
            <a:off x="3371850" y="3983905"/>
            <a:ext cx="2501900" cy="5078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 dirty="0">
                <a:solidFill>
                  <a:srgbClr val="E8DCC8"/>
                </a:solidFill>
                <a:latin typeface="Calibri"/>
                <a:cs typeface="Calibri"/>
              </a:rPr>
              <a:t>Canada’s PM Carney called China 'more predictable' than U.S. Chinese crude imports recorded at 11.6M in 2025.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44E94A9-2829-BF43-9831-842773579CDE}"/>
              </a:ext>
            </a:extLst>
          </p:cNvPr>
          <p:cNvSpPr/>
          <p:nvPr/>
        </p:nvSpPr>
        <p:spPr>
          <a:xfrm>
            <a:off x="6086094" y="3683000"/>
            <a:ext cx="2705100" cy="10795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EF6D95-AD87-0748-A717-4687FEA7CD00}"/>
              </a:ext>
            </a:extLst>
          </p:cNvPr>
          <p:cNvSpPr txBox="1"/>
          <p:nvPr/>
        </p:nvSpPr>
        <p:spPr>
          <a:xfrm>
            <a:off x="6197600" y="3672360"/>
            <a:ext cx="25019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900" dirty="0"/>
              <a:t>Third, the world is entering a massive capital cycle driven by AI infrastructure spending.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726F57-DB00-D342-8F31-0EAFA3C572D4}"/>
              </a:ext>
            </a:extLst>
          </p:cNvPr>
          <p:cNvSpPr txBox="1"/>
          <p:nvPr/>
        </p:nvSpPr>
        <p:spPr>
          <a:xfrm>
            <a:off x="444500" y="4889500"/>
            <a:ext cx="825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 dirty="0">
                <a:solidFill>
                  <a:srgbClr val="8B7B68"/>
                </a:solidFill>
                <a:latin typeface="Calibri"/>
                <a:cs typeface="Calibri"/>
              </a:rPr>
              <a:t>Legs 3+4 receive 65% (anchored in reported revenue, FCF, market share)  |  Leg 2 at 8% (unlimited short risk)  |  Leg 5: $7K cash reserve funds disciplined reentry only</a:t>
            </a:r>
          </a:p>
        </p:txBody>
      </p:sp>
    </p:spTree>
    <p:extLst>
      <p:ext uri="{BB962C8B-B14F-4D97-AF65-F5344CB8AC3E}">
        <p14:creationId xmlns:p14="http://schemas.microsoft.com/office/powerpoint/2010/main" val="28450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49539F-11D3-4A44-9C1F-B18B14754F71}"/>
              </a:ext>
            </a:extLst>
          </p:cNvPr>
          <p:cNvSpPr txBox="1"/>
          <p:nvPr/>
        </p:nvSpPr>
        <p:spPr>
          <a:xfrm>
            <a:off x="635000" y="228600"/>
            <a:ext cx="787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5EDE0"/>
                </a:solidFill>
                <a:latin typeface="Georgia"/>
              </a:rPr>
              <a:t>LEG 1: DOMESTIC ENERGY  |  20% / $20,000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64A20-CDB2-B047-8387-60F60D03A1A5}"/>
              </a:ext>
            </a:extLst>
          </p:cNvPr>
          <p:cNvSpPr txBox="1"/>
          <p:nvPr/>
        </p:nvSpPr>
        <p:spPr>
          <a:xfrm>
            <a:off x="635000" y="6604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C4944A"/>
                </a:solidFill>
                <a:latin typeface="Calibri"/>
                <a:cs typeface="Calibri"/>
              </a:rPr>
              <a:t>Long Call Options: Devon Energy (DVN) + Diamondback Energy (FANG)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6096A5B-43F8-7740-8564-294D678780A7}"/>
              </a:ext>
            </a:extLst>
          </p:cNvPr>
          <p:cNvSpPr/>
          <p:nvPr/>
        </p:nvSpPr>
        <p:spPr>
          <a:xfrm>
            <a:off x="444500" y="977900"/>
            <a:ext cx="4165600" cy="31877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9CB46-A379-0B46-B767-EB13EED29FF9}"/>
              </a:ext>
            </a:extLst>
          </p:cNvPr>
          <p:cNvSpPr txBox="1"/>
          <p:nvPr/>
        </p:nvSpPr>
        <p:spPr>
          <a:xfrm>
            <a:off x="571500" y="1140589"/>
            <a:ext cx="4074160" cy="267765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200" dirty="0"/>
              <a:t>“Our first position is a bullish view on U.S. domestic energy producers.</a:t>
            </a:r>
          </a:p>
          <a:p>
            <a:endParaRPr lang="en-US" sz="1200" dirty="0"/>
          </a:p>
          <a:p>
            <a:r>
              <a:rPr lang="en-US" sz="1200" dirty="0"/>
              <a:t>This trade is based on geopolitical supply disruption.</a:t>
            </a:r>
          </a:p>
          <a:p>
            <a:endParaRPr lang="en-US" sz="1200" dirty="0"/>
          </a:p>
          <a:p>
            <a:r>
              <a:rPr lang="en-US" sz="1200" dirty="0"/>
              <a:t>Political instability in Venezuela has the potential to alter access to the country’s massive reserves, which represent over 300 billion barrels of oil.</a:t>
            </a:r>
          </a:p>
          <a:p>
            <a:endParaRPr lang="en-US" sz="1200" dirty="0"/>
          </a:p>
          <a:p>
            <a:r>
              <a:rPr lang="en-US" sz="1200" dirty="0"/>
              <a:t>If supply becomes constrained over the next 12 to 24 months, U.S. producers are positioned to benefit significantly.</a:t>
            </a:r>
          </a:p>
          <a:p>
            <a:endParaRPr lang="en-US" sz="1200" dirty="0"/>
          </a:p>
          <a:p>
            <a:r>
              <a:rPr lang="en-US" sz="1200" dirty="0"/>
              <a:t>To capture this opportunity while limiting risk, we use call options on Devon Energy and Diamondback Energy.”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90F453-CCED-1E4A-8E1D-FC24EB842DF5}"/>
              </a:ext>
            </a:extLst>
          </p:cNvPr>
          <p:cNvSpPr/>
          <p:nvPr/>
        </p:nvSpPr>
        <p:spPr>
          <a:xfrm>
            <a:off x="4673600" y="1041400"/>
            <a:ext cx="4127500" cy="965200"/>
          </a:xfrm>
          <a:prstGeom prst="roundRect">
            <a:avLst/>
          </a:prstGeom>
          <a:solidFill>
            <a:srgbClr val="4A2E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B3C04-C01F-3D44-962D-3FF54332AB1B}"/>
              </a:ext>
            </a:extLst>
          </p:cNvPr>
          <p:cNvSpPr txBox="1"/>
          <p:nvPr/>
        </p:nvSpPr>
        <p:spPr>
          <a:xfrm>
            <a:off x="4800600" y="1092200"/>
            <a:ext cx="393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C4944A"/>
                </a:solidFill>
                <a:latin typeface="Georgia"/>
              </a:rPr>
              <a:t>Devon Energy (NYSE: DVN)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4D282-7C71-4A44-B1EE-16D0CC03D9F3}"/>
              </a:ext>
            </a:extLst>
          </p:cNvPr>
          <p:cNvSpPr txBox="1"/>
          <p:nvPr/>
        </p:nvSpPr>
        <p:spPr>
          <a:xfrm>
            <a:off x="4800600" y="13208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50">
                <a:solidFill>
                  <a:srgbClr val="E8DCC8"/>
                </a:solidFill>
                <a:latin typeface="Calibri"/>
                <a:cs typeface="Calibri"/>
              </a:rPr>
              <a:t>• FY2025: $2.6B net earnings, 840 MBoe/d production
• Net debt-to-EBITDAX: 0.9x
• $58B all-stock merger with Coterra (closing Q2 2026)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80BA5B-23DA-0241-9223-65565078C993}"/>
              </a:ext>
            </a:extLst>
          </p:cNvPr>
          <p:cNvSpPr/>
          <p:nvPr/>
        </p:nvSpPr>
        <p:spPr>
          <a:xfrm>
            <a:off x="4673600" y="2082800"/>
            <a:ext cx="4127500" cy="965200"/>
          </a:xfrm>
          <a:prstGeom prst="roundRect">
            <a:avLst/>
          </a:prstGeom>
          <a:solidFill>
            <a:srgbClr val="4A2E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840166-F96B-2344-9B7F-87E9D2A8916F}"/>
              </a:ext>
            </a:extLst>
          </p:cNvPr>
          <p:cNvSpPr txBox="1"/>
          <p:nvPr/>
        </p:nvSpPr>
        <p:spPr>
          <a:xfrm>
            <a:off x="4800600" y="2133600"/>
            <a:ext cx="393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C4944A"/>
                </a:solidFill>
                <a:latin typeface="Georgia"/>
              </a:rPr>
              <a:t>Diamondback Energy (NASDAQ: FANG)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EC3847-2574-1940-B17A-BC7AEC0D52A9}"/>
              </a:ext>
            </a:extLst>
          </p:cNvPr>
          <p:cNvSpPr txBox="1"/>
          <p:nvPr/>
        </p:nvSpPr>
        <p:spPr>
          <a:xfrm>
            <a:off x="4800600" y="23622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50" dirty="0">
                <a:solidFill>
                  <a:srgbClr val="E8DCC8"/>
                </a:solidFill>
                <a:latin typeface="Calibri"/>
                <a:cs typeface="Calibri"/>
              </a:rPr>
              <a:t>• Pure-play Permian; BBB/BBB+ rated
• $2B active buyback; best-in-class unit costs
• Zero OPEC/GCC exposure; no sanctions blowback risk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5422500-4F31-D940-B81C-6AA76E57A960}"/>
              </a:ext>
            </a:extLst>
          </p:cNvPr>
          <p:cNvSpPr/>
          <p:nvPr/>
        </p:nvSpPr>
        <p:spPr>
          <a:xfrm>
            <a:off x="444500" y="4191000"/>
            <a:ext cx="8356600" cy="355600"/>
          </a:xfrm>
          <a:prstGeom prst="roundRect">
            <a:avLst/>
          </a:prstGeom>
          <a:solidFill>
            <a:srgbClr val="8B5E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C24991-C03F-E044-94FD-F1DF7471EED7}"/>
              </a:ext>
            </a:extLst>
          </p:cNvPr>
          <p:cNvSpPr txBox="1"/>
          <p:nvPr/>
        </p:nvSpPr>
        <p:spPr>
          <a:xfrm>
            <a:off x="571500" y="4229100"/>
            <a:ext cx="812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F5EDE0"/>
                </a:solidFill>
                <a:latin typeface="Calibri"/>
                <a:cs typeface="Calibri"/>
              </a:rPr>
              <a:t>Primary Catalysts: Venezuelan supply normalization (12-24mo)  |  OPEC+ discipline window Q1 2026  |  DVN-Coterra merger Q2 2026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40E6EB6-FE81-BE41-8193-8963590F1FB5}"/>
              </a:ext>
            </a:extLst>
          </p:cNvPr>
          <p:cNvSpPr/>
          <p:nvPr/>
        </p:nvSpPr>
        <p:spPr>
          <a:xfrm>
            <a:off x="444500" y="4635500"/>
            <a:ext cx="8356600" cy="5080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A02810-AE21-E440-8F30-FD44C1283414}"/>
              </a:ext>
            </a:extLst>
          </p:cNvPr>
          <p:cNvSpPr txBox="1"/>
          <p:nvPr/>
        </p:nvSpPr>
        <p:spPr>
          <a:xfrm>
            <a:off x="571500" y="4673600"/>
            <a:ext cx="812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E8DCC8"/>
                </a:solidFill>
                <a:latin typeface="Calibri"/>
                <a:cs typeface="Calibri"/>
              </a:rPr>
              <a:t>DVN Valuation: FY25 EPS ~$5.80, P/E ~7.5x fwd | Net debt/EBITDAX 0.9x | Coterra merger creates $58B super-independent
FANG Valuation: FY25 FCF yield ~8% | $26B Endeavor acquisition complete | Best-in-class Permian break-even ~$40 WTI</a:t>
            </a:r>
          </a:p>
        </p:txBody>
      </p:sp>
    </p:spTree>
    <p:extLst>
      <p:ext uri="{BB962C8B-B14F-4D97-AF65-F5344CB8AC3E}">
        <p14:creationId xmlns:p14="http://schemas.microsoft.com/office/powerpoint/2010/main" val="409946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A804B9-BA67-0B44-9060-6A74E0B8AA33}"/>
              </a:ext>
            </a:extLst>
          </p:cNvPr>
          <p:cNvSpPr txBox="1"/>
          <p:nvPr/>
        </p:nvSpPr>
        <p:spPr>
          <a:xfrm>
            <a:off x="635000" y="228600"/>
            <a:ext cx="787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5EDE0"/>
                </a:solidFill>
                <a:latin typeface="Georgia"/>
              </a:rPr>
              <a:t>LEG 1 RISK &amp; RATIONALE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F69F9-BE01-E94E-A251-09F079540F99}"/>
              </a:ext>
            </a:extLst>
          </p:cNvPr>
          <p:cNvSpPr txBox="1"/>
          <p:nvPr/>
        </p:nvSpPr>
        <p:spPr>
          <a:xfrm>
            <a:off x="635000" y="6604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C4944A"/>
                </a:solidFill>
                <a:latin typeface="Calibri"/>
                <a:cs typeface="Calibri"/>
              </a:rPr>
              <a:t>Domestic Energy: DVN + FANG Call Options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6E4053-B81B-7D4A-90AA-0D12C5E6B0FC}"/>
              </a:ext>
            </a:extLst>
          </p:cNvPr>
          <p:cNvSpPr/>
          <p:nvPr/>
        </p:nvSpPr>
        <p:spPr>
          <a:xfrm>
            <a:off x="380999" y="1036452"/>
            <a:ext cx="4127500" cy="2844800"/>
          </a:xfrm>
          <a:prstGeom prst="roundRect">
            <a:avLst/>
          </a:prstGeom>
          <a:solidFill>
            <a:srgbClr val="4A22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31760-0E79-1144-9881-80DBE3FCC40E}"/>
              </a:ext>
            </a:extLst>
          </p:cNvPr>
          <p:cNvSpPr txBox="1"/>
          <p:nvPr/>
        </p:nvSpPr>
        <p:spPr>
          <a:xfrm>
            <a:off x="571500" y="1092200"/>
            <a:ext cx="3810000" cy="212365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100" dirty="0"/>
              <a:t>The biggest risk would be oil prices remaining below about fifty dollars per barrel through 2026. At that level, demand destruction would overwhelm the supply disruption thesis we discussed earlier.</a:t>
            </a:r>
          </a:p>
          <a:p>
            <a:endParaRPr lang="en-US" sz="1100" dirty="0"/>
          </a:p>
          <a:p>
            <a:r>
              <a:rPr lang="en-US" sz="1100" dirty="0"/>
              <a:t>Another risk would be Saudi Arabia continuing to increase production beyond the current OPEC pause window, which would keep global supply elevated.</a:t>
            </a:r>
          </a:p>
          <a:p>
            <a:endParaRPr lang="en-US" sz="1100" dirty="0"/>
          </a:p>
          <a:p>
            <a:r>
              <a:rPr lang="en-US" sz="1100" dirty="0"/>
              <a:t>There is also timing risk. Because we are using options, if the geopolitical catalyst takes longer to play out than expected, time decay could reduce the value of the position.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958A817-DD39-A14B-B4AE-D69250B59489}"/>
              </a:ext>
            </a:extLst>
          </p:cNvPr>
          <p:cNvSpPr/>
          <p:nvPr/>
        </p:nvSpPr>
        <p:spPr>
          <a:xfrm>
            <a:off x="4635502" y="1036452"/>
            <a:ext cx="4165598" cy="28448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2BEBE1-380A-3942-A41B-193829A40AEC}"/>
              </a:ext>
            </a:extLst>
          </p:cNvPr>
          <p:cNvSpPr txBox="1"/>
          <p:nvPr/>
        </p:nvSpPr>
        <p:spPr>
          <a:xfrm>
            <a:off x="5207000" y="963546"/>
            <a:ext cx="393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>
                <a:solidFill>
                  <a:srgbClr val="C4944A"/>
                </a:solidFill>
                <a:latin typeface="Georgia"/>
              </a:rPr>
              <a:t>Mitigation &amp; Position Sizing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32800-D7C1-934F-B43A-B10069F4807C}"/>
              </a:ext>
            </a:extLst>
          </p:cNvPr>
          <p:cNvSpPr txBox="1"/>
          <p:nvPr/>
        </p:nvSpPr>
        <p:spPr>
          <a:xfrm>
            <a:off x="4864100" y="1217546"/>
            <a:ext cx="3937000" cy="235449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050" dirty="0"/>
              <a:t>To manage these risks, </a:t>
            </a:r>
          </a:p>
          <a:p>
            <a:r>
              <a:rPr lang="en-US" sz="1050" dirty="0"/>
              <a:t>Using call options caps the maximum loss at the premium paid, which is roughly two to three percent of the portfolio per position.</a:t>
            </a:r>
          </a:p>
          <a:p>
            <a:endParaRPr lang="en-US" sz="1050" dirty="0"/>
          </a:p>
          <a:p>
            <a:r>
              <a:rPr lang="en-US" sz="1050" dirty="0"/>
              <a:t>We also maintain a four percent stop-loss on the options positions to prevent losses from expanding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The key point is that we have a clear threshold for when our thesis would change.</a:t>
            </a:r>
          </a:p>
          <a:p>
            <a:endParaRPr lang="en-US" sz="1050" dirty="0"/>
          </a:p>
          <a:p>
            <a:r>
              <a:rPr lang="en-US" sz="1050" dirty="0"/>
              <a:t>If oil prices remain below fifty dollars per barrel through the third quarter of 2026, we would reassess the position because the supply disruption thesis would likely no longer hold</a:t>
            </a:r>
          </a:p>
          <a:p>
            <a:endParaRPr lang="en-US" sz="105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AA1CAC9-4574-4446-A9DF-D42AE9B9DDA1}"/>
              </a:ext>
            </a:extLst>
          </p:cNvPr>
          <p:cNvSpPr/>
          <p:nvPr/>
        </p:nvSpPr>
        <p:spPr>
          <a:xfrm>
            <a:off x="444500" y="4140200"/>
            <a:ext cx="8356600" cy="482600"/>
          </a:xfrm>
          <a:prstGeom prst="roundRect">
            <a:avLst/>
          </a:prstGeom>
          <a:solidFill>
            <a:srgbClr val="8B5E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34B71F-CC1B-F241-9D6A-5FB28C700804}"/>
              </a:ext>
            </a:extLst>
          </p:cNvPr>
          <p:cNvSpPr txBox="1"/>
          <p:nvPr/>
        </p:nvSpPr>
        <p:spPr>
          <a:xfrm>
            <a:off x="571500" y="41910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 dirty="0">
                <a:solidFill>
                  <a:srgbClr val="F5EDE0"/>
                </a:solidFill>
                <a:latin typeface="Calibri"/>
                <a:cs typeface="Calibri"/>
              </a:rPr>
              <a:t>Valuation: WTI mean-reverts toward $65 by H2 2026 on Venezuelan supply reduction  |  Upside: 20-30% on call premium  |  Max Loss: Premium paid</a:t>
            </a:r>
          </a:p>
        </p:txBody>
      </p:sp>
    </p:spTree>
    <p:extLst>
      <p:ext uri="{BB962C8B-B14F-4D97-AF65-F5344CB8AC3E}">
        <p14:creationId xmlns:p14="http://schemas.microsoft.com/office/powerpoint/2010/main" val="1341661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474020F-2872-574C-989E-BDE01F08354B}"/>
              </a:ext>
            </a:extLst>
          </p:cNvPr>
          <p:cNvSpPr txBox="1"/>
          <p:nvPr/>
        </p:nvSpPr>
        <p:spPr>
          <a:xfrm>
            <a:off x="508000" y="127000"/>
            <a:ext cx="825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F5EDE0"/>
                </a:solidFill>
                <a:latin typeface="Georgia"/>
              </a:rPr>
              <a:t>LEG 2: SHORT PRE-REVENUE NUCLEAR  |  8% / $8,000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8E0E1B-D4DB-C844-A5B8-A6BC1EC94FE1}"/>
              </a:ext>
            </a:extLst>
          </p:cNvPr>
          <p:cNvSpPr txBox="1"/>
          <p:nvPr/>
        </p:nvSpPr>
        <p:spPr>
          <a:xfrm>
            <a:off x="508000" y="482600"/>
            <a:ext cx="8255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C4944A"/>
                </a:solidFill>
                <a:latin typeface="Calibri"/>
                <a:cs typeface="Calibri"/>
              </a:rPr>
              <a:t>Short: NuScale Power (NYSE: SMR)  |  Solvency-risk short, not just a valuation call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597CEBF-2F81-3147-ACE3-F2E5807ADC00}"/>
              </a:ext>
            </a:extLst>
          </p:cNvPr>
          <p:cNvSpPr/>
          <p:nvPr/>
        </p:nvSpPr>
        <p:spPr>
          <a:xfrm>
            <a:off x="317500" y="736600"/>
            <a:ext cx="4381500" cy="14605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F67D6F-BCA7-9243-A437-3F3D8342F01E}"/>
              </a:ext>
            </a:extLst>
          </p:cNvPr>
          <p:cNvSpPr txBox="1"/>
          <p:nvPr/>
        </p:nvSpPr>
        <p:spPr>
          <a:xfrm>
            <a:off x="419100" y="762000"/>
            <a:ext cx="419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 b="1">
                <a:solidFill>
                  <a:srgbClr val="8C4A4A"/>
                </a:solidFill>
                <a:latin typeface="Georgia"/>
              </a:rPr>
              <a:t>The Bear Case: Solvency, Not Just Valuation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914F7C-EED4-0644-A827-FC792D0BA8CD}"/>
              </a:ext>
            </a:extLst>
          </p:cNvPr>
          <p:cNvSpPr txBox="1"/>
          <p:nvPr/>
        </p:nvSpPr>
        <p:spPr>
          <a:xfrm>
            <a:off x="419100" y="990600"/>
            <a:ext cx="4191000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800" dirty="0" err="1"/>
              <a:t>NuScale</a:t>
            </a:r>
            <a:r>
              <a:rPr lang="en-US" sz="800" dirty="0"/>
              <a:t> is currently the only small modular reactor design approved by the Nuclear Regulatory Commission, but the company is still commercially pre-revenue.</a:t>
            </a:r>
          </a:p>
          <a:p>
            <a:endParaRPr lang="en-US" sz="800" dirty="0"/>
          </a:p>
          <a:p>
            <a:r>
              <a:rPr lang="en-US" sz="800" dirty="0"/>
              <a:t>Despite that, it is burning an enormous amount of cash of 200M</a:t>
            </a:r>
            <a:br>
              <a:rPr lang="en-US" sz="800" dirty="0"/>
            </a:br>
            <a:br>
              <a:rPr lang="en-US" sz="800" dirty="0"/>
            </a:br>
            <a:r>
              <a:rPr lang="en-US" sz="800" dirty="0"/>
              <a:t>Without binding commercial reactor contracts, this business model remains financially unsustainable.</a:t>
            </a:r>
          </a:p>
          <a:p>
            <a:endParaRPr lang="en-US" sz="80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1120512-EA2D-6040-82D8-2F9773D40A9D}"/>
              </a:ext>
            </a:extLst>
          </p:cNvPr>
          <p:cNvSpPr/>
          <p:nvPr/>
        </p:nvSpPr>
        <p:spPr>
          <a:xfrm>
            <a:off x="4800600" y="736600"/>
            <a:ext cx="4127500" cy="1460500"/>
          </a:xfrm>
          <a:prstGeom prst="roundRect">
            <a:avLst/>
          </a:prstGeom>
          <a:solidFill>
            <a:srgbClr val="4A2E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791526-F8E5-B24C-B330-8AD1F8FDB959}"/>
              </a:ext>
            </a:extLst>
          </p:cNvPr>
          <p:cNvSpPr txBox="1"/>
          <p:nvPr/>
        </p:nvSpPr>
        <p:spPr>
          <a:xfrm>
            <a:off x="4902200" y="762000"/>
            <a:ext cx="393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 b="1">
                <a:solidFill>
                  <a:srgbClr val="C4944A"/>
                </a:solidFill>
                <a:latin typeface="Georgia"/>
              </a:rPr>
              <a:t>Key Financial Metrics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C8D0D2-CD64-6F45-96BE-7A7004429DA0}"/>
              </a:ext>
            </a:extLst>
          </p:cNvPr>
          <p:cNvSpPr txBox="1"/>
          <p:nvPr/>
        </p:nvSpPr>
        <p:spPr>
          <a:xfrm>
            <a:off x="4902200" y="990600"/>
            <a:ext cx="3937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800" dirty="0"/>
              <a:t>Because short positions carry unlimited theoretical risk, we limit this trade to eight percent of the portfolio and maintain a strict stop-loss.</a:t>
            </a:r>
          </a:p>
          <a:p>
            <a:br>
              <a:rPr lang="en-US" sz="800" dirty="0"/>
            </a:br>
            <a:endParaRPr lang="en-US" sz="800" dirty="0"/>
          </a:p>
          <a:p>
            <a:r>
              <a:rPr lang="en-US" sz="800" dirty="0"/>
              <a:t>If a major commercial contract emerges that materially extends the company’s runway, we would exit the position.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36BB383-31A6-1045-AAFA-26BF43A4E06E}"/>
              </a:ext>
            </a:extLst>
          </p:cNvPr>
          <p:cNvSpPr/>
          <p:nvPr/>
        </p:nvSpPr>
        <p:spPr>
          <a:xfrm>
            <a:off x="317500" y="2260600"/>
            <a:ext cx="8610600" cy="254000"/>
          </a:xfrm>
          <a:prstGeom prst="roundRect">
            <a:avLst/>
          </a:prstGeom>
          <a:solidFill>
            <a:srgbClr val="8C4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B408ED-6C78-8B43-B4AF-346F41E27201}"/>
              </a:ext>
            </a:extLst>
          </p:cNvPr>
          <p:cNvSpPr txBox="1"/>
          <p:nvPr/>
        </p:nvSpPr>
        <p:spPr>
          <a:xfrm>
            <a:off x="419100" y="2286000"/>
            <a:ext cx="844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 b="1">
                <a:solidFill>
                  <a:srgbClr val="F5EDE0"/>
                </a:solidFill>
                <a:latin typeface="Calibri"/>
                <a:cs typeface="Calibri"/>
              </a:rPr>
              <a:t>Sized at 8% (unlimited short risk)  |  4% stop-loss above entry  |  Rotate to OKLO/NNE if catalyst resolves  |  Pipeline = MOUs, not contracts</a:t>
            </a:r>
          </a:p>
        </p:txBody>
      </p:sp>
      <p:graphicFrame>
        <p:nvGraphicFramePr>
          <p:cNvPr id="401" name="SMR Big Chart"/>
          <p:cNvGraphicFramePr/>
          <p:nvPr/>
        </p:nvGraphicFramePr>
        <p:xfrm>
          <a:off x="317500" y="2590800"/>
          <a:ext cx="8509000" cy="2463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3AAFFAA-9829-4843-9711-C04E6EC6407E}"/>
              </a:ext>
            </a:extLst>
          </p:cNvPr>
          <p:cNvSpPr txBox="1"/>
          <p:nvPr/>
        </p:nvSpPr>
        <p:spPr>
          <a:xfrm>
            <a:off x="762000" y="4914900"/>
            <a:ext cx="762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i="1">
                <a:solidFill>
                  <a:srgbClr val="8B7B68"/>
                </a:solidFill>
                <a:latin typeface="Calibri"/>
                <a:cs typeface="Calibri"/>
              </a:rPr>
              <a:t>Revenue-to-loss ratio is the thesis: $8M quarterly revenue against $538M operating loss. Revenue bars barely visible at this scale.</a:t>
            </a:r>
          </a:p>
        </p:txBody>
      </p:sp>
    </p:spTree>
    <p:extLst>
      <p:ext uri="{BB962C8B-B14F-4D97-AF65-F5344CB8AC3E}">
        <p14:creationId xmlns:p14="http://schemas.microsoft.com/office/powerpoint/2010/main" val="2616488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03D6E0-2752-1248-93DE-FA19D06BC814}"/>
              </a:ext>
            </a:extLst>
          </p:cNvPr>
          <p:cNvSpPr txBox="1"/>
          <p:nvPr/>
        </p:nvSpPr>
        <p:spPr>
          <a:xfrm>
            <a:off x="635000" y="228600"/>
            <a:ext cx="787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5EDE0"/>
                </a:solidFill>
                <a:latin typeface="Georgia"/>
              </a:rPr>
              <a:t>LEG 2 RISK &amp; RATIONALE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036BD4-40A1-3F43-ABFE-2681A7A285F4}"/>
              </a:ext>
            </a:extLst>
          </p:cNvPr>
          <p:cNvSpPr txBox="1"/>
          <p:nvPr/>
        </p:nvSpPr>
        <p:spPr>
          <a:xfrm>
            <a:off x="635000" y="6604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C4944A"/>
                </a:solidFill>
                <a:latin typeface="Calibri"/>
                <a:cs typeface="Calibri"/>
              </a:rPr>
              <a:t>Short NuScale Power (SMR)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97D4937-ADDA-3A48-8108-4ADCF8AC7269}"/>
              </a:ext>
            </a:extLst>
          </p:cNvPr>
          <p:cNvSpPr/>
          <p:nvPr/>
        </p:nvSpPr>
        <p:spPr>
          <a:xfrm>
            <a:off x="444500" y="1041400"/>
            <a:ext cx="4064000" cy="1905000"/>
          </a:xfrm>
          <a:prstGeom prst="roundRect">
            <a:avLst/>
          </a:prstGeom>
          <a:solidFill>
            <a:srgbClr val="4A22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DAE7E-4A27-B64A-89A8-98B4AE7589E4}"/>
              </a:ext>
            </a:extLst>
          </p:cNvPr>
          <p:cNvSpPr txBox="1"/>
          <p:nvPr/>
        </p:nvSpPr>
        <p:spPr>
          <a:xfrm>
            <a:off x="571500" y="955308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D4A96A"/>
                </a:solidFill>
                <a:latin typeface="Georgia"/>
              </a:rPr>
              <a:t>Key Risks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8867A5-BD5F-034A-9902-71F02300636B}"/>
              </a:ext>
            </a:extLst>
          </p:cNvPr>
          <p:cNvSpPr txBox="1"/>
          <p:nvPr/>
        </p:nvSpPr>
        <p:spPr>
          <a:xfrm>
            <a:off x="603250" y="1203226"/>
            <a:ext cx="3810000" cy="147732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000" dirty="0"/>
              <a:t>The biggest risk would be </a:t>
            </a:r>
            <a:r>
              <a:rPr lang="en-US" sz="1000" dirty="0" err="1"/>
              <a:t>NuScale</a:t>
            </a:r>
            <a:r>
              <a:rPr lang="en-US" sz="1000" dirty="0"/>
              <a:t> securing a </a:t>
            </a:r>
            <a:r>
              <a:rPr lang="en-US" sz="1000" b="1" dirty="0"/>
              <a:t>binding commercial reactor contract with a creditworthy counterparty</a:t>
            </a:r>
            <a:r>
              <a:rPr lang="en-US" sz="1000" dirty="0"/>
              <a:t>, which would materially extend its cash runway.</a:t>
            </a:r>
          </a:p>
          <a:p>
            <a:endParaRPr lang="en-US" sz="1000" dirty="0"/>
          </a:p>
          <a:p>
            <a:r>
              <a:rPr lang="en-US" sz="1000" dirty="0"/>
              <a:t>Another possibility is a </a:t>
            </a:r>
            <a:r>
              <a:rPr lang="en-US" sz="1000" b="1" dirty="0"/>
              <a:t>short squeeze driven by renewed nuclear momentum</a:t>
            </a:r>
            <a:br>
              <a:rPr lang="en-US" sz="1000" b="1" dirty="0"/>
            </a:br>
            <a:endParaRPr lang="en-US" sz="1000" dirty="0"/>
          </a:p>
          <a:p>
            <a:r>
              <a:rPr lang="en-US" sz="1000" dirty="0"/>
              <a:t>Government intervention, such as </a:t>
            </a:r>
            <a:r>
              <a:rPr lang="en-US" sz="1000" b="1" dirty="0"/>
              <a:t>subsidies or loan guarantees</a:t>
            </a:r>
            <a:r>
              <a:rPr lang="en-US" sz="1000" dirty="0"/>
              <a:t>, could also temporarily extend the company’s solvency timeline.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5133924-8D99-3046-92C3-41F7AD2E275E}"/>
              </a:ext>
            </a:extLst>
          </p:cNvPr>
          <p:cNvSpPr/>
          <p:nvPr/>
        </p:nvSpPr>
        <p:spPr>
          <a:xfrm>
            <a:off x="4673600" y="1041400"/>
            <a:ext cx="4127500" cy="19050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ACB5BE-1AE0-E64A-8945-E38E8CB99D7A}"/>
              </a:ext>
            </a:extLst>
          </p:cNvPr>
          <p:cNvSpPr txBox="1"/>
          <p:nvPr/>
        </p:nvSpPr>
        <p:spPr>
          <a:xfrm>
            <a:off x="4800600" y="1092200"/>
            <a:ext cx="393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C4944A"/>
                </a:solidFill>
                <a:latin typeface="Georgia"/>
              </a:rPr>
              <a:t>Mitigation &amp; Discipline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31AF5E-AAB5-2145-987E-57FBC3CFD0A2}"/>
              </a:ext>
            </a:extLst>
          </p:cNvPr>
          <p:cNvSpPr txBox="1"/>
          <p:nvPr/>
        </p:nvSpPr>
        <p:spPr>
          <a:xfrm>
            <a:off x="4800600" y="1371600"/>
            <a:ext cx="39370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000" dirty="0"/>
              <a:t>As I said before to manage these risks, we keep the position relatively small at </a:t>
            </a:r>
            <a:r>
              <a:rPr lang="en-US" sz="1000" b="1" dirty="0"/>
              <a:t>eight percent of the portfolio</a:t>
            </a:r>
            <a:r>
              <a:rPr lang="en-US" sz="1000" dirty="0"/>
              <a:t> and enforce a </a:t>
            </a:r>
            <a:r>
              <a:rPr lang="en-US" sz="1000" b="1" dirty="0"/>
              <a:t>strict four percent stop-loss above entry</a:t>
            </a:r>
            <a:r>
              <a:rPr lang="en-US" sz="1000" dirty="0"/>
              <a:t>.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If a </a:t>
            </a:r>
            <a:r>
              <a:rPr lang="en-US" sz="1000" dirty="0" err="1"/>
              <a:t>NuScale</a:t>
            </a:r>
            <a:r>
              <a:rPr lang="en-US" sz="1000" dirty="0"/>
              <a:t>-specific catalyst resolves the thesis, we can also rotate the short into similar companies such as OKLO or NNE.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27C714E-B702-3C40-A5AC-5A4C3F667AF6}"/>
              </a:ext>
            </a:extLst>
          </p:cNvPr>
          <p:cNvSpPr/>
          <p:nvPr/>
        </p:nvSpPr>
        <p:spPr>
          <a:xfrm>
            <a:off x="444500" y="3073400"/>
            <a:ext cx="8356600" cy="698500"/>
          </a:xfrm>
          <a:prstGeom prst="roundRect">
            <a:avLst/>
          </a:prstGeom>
          <a:solidFill>
            <a:srgbClr val="5C3D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A043CB-2E6A-F147-BDAC-121A5368A5D9}"/>
              </a:ext>
            </a:extLst>
          </p:cNvPr>
          <p:cNvSpPr txBox="1"/>
          <p:nvPr/>
        </p:nvSpPr>
        <p:spPr>
          <a:xfrm>
            <a:off x="603250" y="3217902"/>
            <a:ext cx="81280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000" dirty="0"/>
              <a:t>The key point is that our thesis is </a:t>
            </a:r>
            <a:r>
              <a:rPr lang="en-US" sz="1000" b="1" dirty="0"/>
              <a:t>solvency-based, not purely valuation-based</a:t>
            </a:r>
            <a:r>
              <a:rPr lang="en-US" sz="1000" dirty="0"/>
              <a:t>. If </a:t>
            </a:r>
            <a:r>
              <a:rPr lang="en-US" sz="1000" dirty="0" err="1"/>
              <a:t>NuScale</a:t>
            </a:r>
            <a:r>
              <a:rPr lang="en-US" sz="1000" dirty="0"/>
              <a:t> signs a binding commercial contract that extends its financial runway beyond about eight quarters, the solvency thesis breaks and we would immediately cover the position.</a:t>
            </a:r>
          </a:p>
          <a:p>
            <a:endParaRPr lang="en-US" sz="100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DA04299-4366-A840-AC05-123D97C6418F}"/>
              </a:ext>
            </a:extLst>
          </p:cNvPr>
          <p:cNvSpPr/>
          <p:nvPr/>
        </p:nvSpPr>
        <p:spPr>
          <a:xfrm>
            <a:off x="444500" y="3886200"/>
            <a:ext cx="8356600" cy="482600"/>
          </a:xfrm>
          <a:prstGeom prst="roundRect">
            <a:avLst/>
          </a:prstGeom>
          <a:solidFill>
            <a:srgbClr val="8C4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B110D0-751E-4847-8FFB-F4A804E9347C}"/>
              </a:ext>
            </a:extLst>
          </p:cNvPr>
          <p:cNvSpPr txBox="1"/>
          <p:nvPr/>
        </p:nvSpPr>
        <p:spPr>
          <a:xfrm>
            <a:off x="571500" y="39370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F5EDE0"/>
                </a:solidFill>
                <a:latin typeface="Calibri"/>
                <a:cs typeface="Calibri"/>
              </a:rPr>
              <a:t>Valuation: P/S &gt;200x on $63.9M trailing revenue  |  ROE: -297.54%  |  Thesis: Solvency risk, not narrative-driven valuation argument</a:t>
            </a:r>
          </a:p>
        </p:txBody>
      </p:sp>
    </p:spTree>
    <p:extLst>
      <p:ext uri="{BB962C8B-B14F-4D97-AF65-F5344CB8AC3E}">
        <p14:creationId xmlns:p14="http://schemas.microsoft.com/office/powerpoint/2010/main" val="2861258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E6FA63B-72D7-DB43-89C1-FBE1A12D31BB}"/>
              </a:ext>
            </a:extLst>
          </p:cNvPr>
          <p:cNvSpPr txBox="1"/>
          <p:nvPr/>
        </p:nvSpPr>
        <p:spPr>
          <a:xfrm>
            <a:off x="508000" y="127000"/>
            <a:ext cx="825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F5EDE0"/>
                </a:solidFill>
                <a:latin typeface="Georgia"/>
              </a:rPr>
              <a:t>LEG 3: CHINA TECH &amp; COMMERCE  |  37% / $37,000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920B2D-0B52-6347-8EBA-D4E32F797AE5}"/>
              </a:ext>
            </a:extLst>
          </p:cNvPr>
          <p:cNvSpPr txBox="1"/>
          <p:nvPr/>
        </p:nvSpPr>
        <p:spPr>
          <a:xfrm>
            <a:off x="508000" y="482600"/>
            <a:ext cx="8255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7A8B6F"/>
                </a:solidFill>
                <a:latin typeface="Calibri"/>
                <a:cs typeface="Calibri"/>
              </a:rPr>
              <a:t>Long: Tencent (TCEHY) 22% / $22K  +  PDD Holdings (PDD) 15% / $15K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DD8569F-92DA-6744-9E03-AC7E842EDB26}"/>
              </a:ext>
            </a:extLst>
          </p:cNvPr>
          <p:cNvSpPr/>
          <p:nvPr/>
        </p:nvSpPr>
        <p:spPr>
          <a:xfrm>
            <a:off x="317500" y="736600"/>
            <a:ext cx="4381500" cy="12700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18384C-60FB-FE4C-ADD6-3FF5AC8B9ED7}"/>
              </a:ext>
            </a:extLst>
          </p:cNvPr>
          <p:cNvSpPr txBox="1"/>
          <p:nvPr/>
        </p:nvSpPr>
        <p:spPr>
          <a:xfrm>
            <a:off x="419100" y="762000"/>
            <a:ext cx="4191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 b="1">
                <a:solidFill>
                  <a:srgbClr val="7A8B6F"/>
                </a:solidFill>
                <a:latin typeface="Georgia"/>
              </a:rPr>
              <a:t>Tencent (TCEHY)  |  22%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F22586-4CFC-6747-A34F-A4495F3F56E8}"/>
              </a:ext>
            </a:extLst>
          </p:cNvPr>
          <p:cNvSpPr txBox="1"/>
          <p:nvPr/>
        </p:nvSpPr>
        <p:spPr>
          <a:xfrm>
            <a:off x="419100" y="965200"/>
            <a:ext cx="41910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E8DCC8"/>
                </a:solidFill>
                <a:latin typeface="Calibri"/>
                <a:cs typeface="Calibri"/>
              </a:rPr>
              <a:t>• TTM rev: $102.5B, 30% op margin, $29.3B FCF
• 43% YoY intl games growth; Epic/Spotify/Kuaishou stakes
• Zero Taiwan Strait supply chain dependency
• Hunyuan LLM (app-layer AI) avoids export controls
• Not a semiconductor mfg; insulated from primary China risk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3BBFFDF-2BB3-0C44-9325-5260459F5ED4}"/>
              </a:ext>
            </a:extLst>
          </p:cNvPr>
          <p:cNvSpPr/>
          <p:nvPr/>
        </p:nvSpPr>
        <p:spPr>
          <a:xfrm>
            <a:off x="4800600" y="736600"/>
            <a:ext cx="4127500" cy="12700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82E56E-22F5-7E40-9899-CF8D0885719B}"/>
              </a:ext>
            </a:extLst>
          </p:cNvPr>
          <p:cNvSpPr txBox="1"/>
          <p:nvPr/>
        </p:nvSpPr>
        <p:spPr>
          <a:xfrm>
            <a:off x="4902200" y="762000"/>
            <a:ext cx="3937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 b="1">
                <a:solidFill>
                  <a:srgbClr val="7A8B6F"/>
                </a:solidFill>
                <a:latin typeface="Georgia"/>
              </a:rPr>
              <a:t>PDD Holdings (PDD)  |  15%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F798C8-1D4B-9C40-98B6-C78D28458776}"/>
              </a:ext>
            </a:extLst>
          </p:cNvPr>
          <p:cNvSpPr txBox="1"/>
          <p:nvPr/>
        </p:nvSpPr>
        <p:spPr>
          <a:xfrm>
            <a:off x="4902200" y="965200"/>
            <a:ext cx="39370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E8DCC8"/>
                </a:solidFill>
                <a:latin typeface="Calibri"/>
                <a:cs typeface="Calibri"/>
              </a:rPr>
              <a:t>• Temu: global discount marketplace (NA, EU, SEA)
• Routes around tariff barriers via direct mfg sourcing
• U.S. tariffs paradoxically amplify Temu's cost advantage
• Durable structural moat, not near-term arbitrage
• Intl revenue without Chinese gov't contract dependency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5922C4E-7D4F-4F45-BF48-74F3E126867B}"/>
              </a:ext>
            </a:extLst>
          </p:cNvPr>
          <p:cNvSpPr/>
          <p:nvPr/>
        </p:nvSpPr>
        <p:spPr>
          <a:xfrm>
            <a:off x="317500" y="2070100"/>
            <a:ext cx="8610600" cy="254000"/>
          </a:xfrm>
          <a:prstGeom prst="roundRect">
            <a:avLst/>
          </a:prstGeom>
          <a:solidFill>
            <a:srgbClr val="7A8B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3D06CC-DE5B-4B4D-BD77-A527A3EF5EE5}"/>
              </a:ext>
            </a:extLst>
          </p:cNvPr>
          <p:cNvSpPr txBox="1"/>
          <p:nvPr/>
        </p:nvSpPr>
        <p:spPr>
          <a:xfrm>
            <a:off x="419100" y="2095500"/>
            <a:ext cx="844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 b="1">
                <a:solidFill>
                  <a:srgbClr val="F5EDE0"/>
                </a:solidFill>
                <a:latin typeface="Calibri"/>
                <a:cs typeface="Calibri"/>
              </a:rPr>
              <a:t>Catalyst: Canada-China Roadmap Jan 2026 (canola tariffs 85% to 15%)  |  Combined 37%: anchored in reported revenue, FCF, market share</a:t>
            </a:r>
          </a:p>
        </p:txBody>
      </p:sp>
      <p:graphicFrame>
        <p:nvGraphicFramePr>
          <p:cNvPr id="401" name="TCEHY Big Chart"/>
          <p:cNvGraphicFramePr/>
          <p:nvPr/>
        </p:nvGraphicFramePr>
        <p:xfrm>
          <a:off x="317500" y="2413000"/>
          <a:ext cx="8509000" cy="264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0780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8DCCAA-EFD9-8840-8383-1554D1F38FEC}"/>
              </a:ext>
            </a:extLst>
          </p:cNvPr>
          <p:cNvSpPr txBox="1"/>
          <p:nvPr/>
        </p:nvSpPr>
        <p:spPr>
          <a:xfrm>
            <a:off x="635000" y="228600"/>
            <a:ext cx="787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5EDE0"/>
                </a:solidFill>
                <a:latin typeface="Georgia"/>
              </a:rPr>
              <a:t>LEG 3 RISK &amp; RATIONALE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EFF25-8419-574A-B3F2-3FF8D4F22A8B}"/>
              </a:ext>
            </a:extLst>
          </p:cNvPr>
          <p:cNvSpPr txBox="1"/>
          <p:nvPr/>
        </p:nvSpPr>
        <p:spPr>
          <a:xfrm>
            <a:off x="635000" y="6604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C4944A"/>
                </a:solidFill>
                <a:latin typeface="Calibri"/>
                <a:cs typeface="Calibri"/>
              </a:rPr>
              <a:t>China Tech &amp; Commerce: TCEHY + PDD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E4DED31-3022-0F45-855C-A6CEE0C62BE8}"/>
              </a:ext>
            </a:extLst>
          </p:cNvPr>
          <p:cNvSpPr/>
          <p:nvPr/>
        </p:nvSpPr>
        <p:spPr>
          <a:xfrm>
            <a:off x="444500" y="1041400"/>
            <a:ext cx="4064000" cy="2032000"/>
          </a:xfrm>
          <a:prstGeom prst="roundRect">
            <a:avLst/>
          </a:prstGeom>
          <a:solidFill>
            <a:srgbClr val="4A22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F96E9-B22F-7942-8715-1AB0E0C34CC3}"/>
              </a:ext>
            </a:extLst>
          </p:cNvPr>
          <p:cNvSpPr txBox="1"/>
          <p:nvPr/>
        </p:nvSpPr>
        <p:spPr>
          <a:xfrm>
            <a:off x="571500" y="1092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D4A96A"/>
                </a:solidFill>
                <a:latin typeface="Georgia"/>
              </a:rPr>
              <a:t>Key Risks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F8C3C-D8F8-0C43-BDEA-1484F2C1FE72}"/>
              </a:ext>
            </a:extLst>
          </p:cNvPr>
          <p:cNvSpPr txBox="1"/>
          <p:nvPr/>
        </p:nvSpPr>
        <p:spPr>
          <a:xfrm>
            <a:off x="571500" y="1371600"/>
            <a:ext cx="3810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E8DCC8"/>
                </a:solidFill>
                <a:latin typeface="Calibri"/>
                <a:cs typeface="Calibri"/>
              </a:rPr>
              <a:t>• Confirmed U.S. forced delisting proceedings against TCEHY or PDD
• Kinetic Taiwan Strait escalation beyond current elevated rhetoric
• Chinese regulatory crackdown on tech sector (2021-style)
• 37% combined China exposure creates portfolio concentration risk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E3F220E-8BFD-BC4A-BD4F-37C50E06EAB9}"/>
              </a:ext>
            </a:extLst>
          </p:cNvPr>
          <p:cNvSpPr/>
          <p:nvPr/>
        </p:nvSpPr>
        <p:spPr>
          <a:xfrm>
            <a:off x="4673600" y="1041400"/>
            <a:ext cx="4127500" cy="20320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93B7A-1DB8-9842-A8C8-A7AFDD89DA5D}"/>
              </a:ext>
            </a:extLst>
          </p:cNvPr>
          <p:cNvSpPr txBox="1"/>
          <p:nvPr/>
        </p:nvSpPr>
        <p:spPr>
          <a:xfrm>
            <a:off x="4800600" y="1092200"/>
            <a:ext cx="393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C4944A"/>
                </a:solidFill>
                <a:latin typeface="Georgia"/>
              </a:rPr>
              <a:t>Structural Insulation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EC4124-B3B7-9645-839A-26A976C203DE}"/>
              </a:ext>
            </a:extLst>
          </p:cNvPr>
          <p:cNvSpPr txBox="1"/>
          <p:nvPr/>
        </p:nvSpPr>
        <p:spPr>
          <a:xfrm>
            <a:off x="4800600" y="1371600"/>
            <a:ext cx="3937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E8DCC8"/>
                </a:solidFill>
                <a:latin typeface="Calibri"/>
                <a:cs typeface="Calibri"/>
              </a:rPr>
              <a:t>• TCEHY is software, not semiconductors; Taiwan risk targets chip fabrication
• Both companies have globally diversified revenue without Chinese government contract dependency
• 2% stop-loss below entry on both positions
• PDD's EU expansion mitigates U.S.-specific risk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1F91CE3-1417-4D42-92D1-DDB4CF1B0051}"/>
              </a:ext>
            </a:extLst>
          </p:cNvPr>
          <p:cNvSpPr/>
          <p:nvPr/>
        </p:nvSpPr>
        <p:spPr>
          <a:xfrm>
            <a:off x="444500" y="3200400"/>
            <a:ext cx="8356600" cy="635000"/>
          </a:xfrm>
          <a:prstGeom prst="roundRect">
            <a:avLst/>
          </a:prstGeom>
          <a:solidFill>
            <a:srgbClr val="5C3D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6D6473-A822-8247-A8C0-132E51DF70AD}"/>
              </a:ext>
            </a:extLst>
          </p:cNvPr>
          <p:cNvSpPr txBox="1"/>
          <p:nvPr/>
        </p:nvSpPr>
        <p:spPr>
          <a:xfrm>
            <a:off x="571500" y="32512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C4944A"/>
                </a:solidFill>
                <a:latin typeface="Georgia"/>
              </a:rPr>
              <a:t>What Would Change Our 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951888-165A-3F4C-A7CD-7E9156554BE6}"/>
              </a:ext>
            </a:extLst>
          </p:cNvPr>
          <p:cNvSpPr txBox="1"/>
          <p:nvPr/>
        </p:nvSpPr>
        <p:spPr>
          <a:xfrm>
            <a:off x="571500" y="3479800"/>
            <a:ext cx="812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E8DCC8"/>
                </a:solidFill>
                <a:latin typeface="Calibri"/>
                <a:cs typeface="Calibri"/>
              </a:rPr>
              <a:t>Confirmed U.S. forced delisting proceedings against TCEHY or PDD, or a kinetic Taiwan Strait escalation beyond current elevated rhetoric, would require immediate revaluation of position sizing.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77C6EEC-8B86-FE48-A69E-2FA7E1EFE25F}"/>
              </a:ext>
            </a:extLst>
          </p:cNvPr>
          <p:cNvSpPr/>
          <p:nvPr/>
        </p:nvSpPr>
        <p:spPr>
          <a:xfrm>
            <a:off x="444500" y="3937000"/>
            <a:ext cx="8356600" cy="482600"/>
          </a:xfrm>
          <a:prstGeom prst="roundRect">
            <a:avLst/>
          </a:prstGeom>
          <a:solidFill>
            <a:srgbClr val="7A8B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F5DE86-3927-BB4C-9D7E-32135C517208}"/>
              </a:ext>
            </a:extLst>
          </p:cNvPr>
          <p:cNvSpPr txBox="1"/>
          <p:nvPr/>
        </p:nvSpPr>
        <p:spPr>
          <a:xfrm>
            <a:off x="571500" y="3975100"/>
            <a:ext cx="812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50" b="1">
                <a:solidFill>
                  <a:srgbClr val="F5EDE0"/>
                </a:solidFill>
                <a:latin typeface="Calibri"/>
                <a:cs typeface="Calibri"/>
              </a:rPr>
              <a:t>TCEHY: $102.5B TTM rev, 30% margin, $29.3B FCF | Upside: 20-25% on margin expansion + intl growth
PDD: Temu GMV accelerating globally | Upside: 25-35% on sustained GMV growth trajectory</a:t>
            </a:r>
          </a:p>
        </p:txBody>
      </p:sp>
    </p:spTree>
    <p:extLst>
      <p:ext uri="{BB962C8B-B14F-4D97-AF65-F5344CB8AC3E}">
        <p14:creationId xmlns:p14="http://schemas.microsoft.com/office/powerpoint/2010/main" val="158029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3076FF-407A-3149-83D8-53D071332DDF}"/>
              </a:ext>
            </a:extLst>
          </p:cNvPr>
          <p:cNvSpPr txBox="1"/>
          <p:nvPr/>
        </p:nvSpPr>
        <p:spPr>
          <a:xfrm>
            <a:off x="635000" y="228600"/>
            <a:ext cx="787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5EDE0"/>
                </a:solidFill>
                <a:latin typeface="Georgia"/>
              </a:rPr>
              <a:t>LEG 4: AI INFRASTRUCTURE  |  28% / $28,000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AA9413-B547-9D42-9860-98F0986116A3}"/>
              </a:ext>
            </a:extLst>
          </p:cNvPr>
          <p:cNvSpPr txBox="1"/>
          <p:nvPr/>
        </p:nvSpPr>
        <p:spPr>
          <a:xfrm>
            <a:off x="635000" y="6604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C4944A"/>
                </a:solidFill>
                <a:latin typeface="Calibri"/>
                <a:cs typeface="Calibri"/>
              </a:rPr>
              <a:t>Long: Arista Networks (NYSE: ANET)  |  Bubble-Resilient by Construction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AD7BBDF-B3F3-5949-8BA2-4752F202C65D}"/>
              </a:ext>
            </a:extLst>
          </p:cNvPr>
          <p:cNvSpPr/>
          <p:nvPr/>
        </p:nvSpPr>
        <p:spPr>
          <a:xfrm>
            <a:off x="444500" y="1041400"/>
            <a:ext cx="4064000" cy="21590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BEF7F-D5EA-E44C-971D-9FD37711BAAB}"/>
              </a:ext>
            </a:extLst>
          </p:cNvPr>
          <p:cNvSpPr txBox="1"/>
          <p:nvPr/>
        </p:nvSpPr>
        <p:spPr>
          <a:xfrm>
            <a:off x="571500" y="1092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C4944A"/>
                </a:solidFill>
                <a:latin typeface="Georgia"/>
              </a:rPr>
              <a:t>Investment Thesis: Model-Agnosticism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650AA-4AE3-7D44-AC36-4BFE9ED0B069}"/>
              </a:ext>
            </a:extLst>
          </p:cNvPr>
          <p:cNvSpPr txBox="1"/>
          <p:nvPr/>
        </p:nvSpPr>
        <p:spPr>
          <a:xfrm>
            <a:off x="571500" y="1371600"/>
            <a:ext cx="381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E8DCC8"/>
                </a:solidFill>
                <a:latin typeface="Calibri"/>
                <a:cs typeface="Calibri"/>
              </a:rPr>
              <a:t>• Dominant provider of high-speed Ethernet switching for hyperscale AI data centers
• Every GPU cluster by MSFT, GOOG, META, AMZN requires Arista's EtherLink switching
• Commands over two-thirds of AI cluster networking sales
• Revenue driven by construction commitments, not speculative application-layer performance
• Hyperscaler CapEx contracts signed through 2027 ensure hardware is purchased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6F6B64-FC77-7249-90C0-FD261E0AF9CA}"/>
              </a:ext>
            </a:extLst>
          </p:cNvPr>
          <p:cNvSpPr/>
          <p:nvPr/>
        </p:nvSpPr>
        <p:spPr>
          <a:xfrm>
            <a:off x="4673600" y="1041400"/>
            <a:ext cx="4127500" cy="2159000"/>
          </a:xfrm>
          <a:prstGeom prst="roundRect">
            <a:avLst/>
          </a:prstGeom>
          <a:solidFill>
            <a:srgbClr val="4A2E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2F88E-8332-B449-BE33-06364F22C9A4}"/>
              </a:ext>
            </a:extLst>
          </p:cNvPr>
          <p:cNvSpPr txBox="1"/>
          <p:nvPr/>
        </p:nvSpPr>
        <p:spPr>
          <a:xfrm>
            <a:off x="4800600" y="1092200"/>
            <a:ext cx="393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C4944A"/>
                </a:solidFill>
                <a:latin typeface="Georgia"/>
              </a:rPr>
              <a:t>Arista Networks Financials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4AA2AC-09CA-8840-A3CE-DF446705D14C}"/>
              </a:ext>
            </a:extLst>
          </p:cNvPr>
          <p:cNvSpPr txBox="1"/>
          <p:nvPr/>
        </p:nvSpPr>
        <p:spPr>
          <a:xfrm>
            <a:off x="4800600" y="1371600"/>
            <a:ext cx="3937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>
                <a:solidFill>
                  <a:srgbClr val="E8DCC8"/>
                </a:solidFill>
                <a:latin typeface="Calibri"/>
                <a:cs typeface="Calibri"/>
              </a:rPr>
              <a:t>FY2025 Revenue:  $9.0B (exceeded guidance)
Q4 2025 Revenue:  $2.49B (+28.9% YoY)
GAAP Gross Margin:  ~64%
2026 Guidance:  25% revenue growth (~$11.2B)
Q4 Earnings Beat:  Feb 12, 2026
Market Position:  &gt;66% AI cluster networking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6BB8E4-6DAA-A04E-BB77-B37D80DCEDC0}"/>
              </a:ext>
            </a:extLst>
          </p:cNvPr>
          <p:cNvSpPr/>
          <p:nvPr/>
        </p:nvSpPr>
        <p:spPr>
          <a:xfrm>
            <a:off x="444500" y="3327400"/>
            <a:ext cx="8356600" cy="5588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85A377-D37A-E047-8EBC-5843B757A405}"/>
              </a:ext>
            </a:extLst>
          </p:cNvPr>
          <p:cNvSpPr txBox="1"/>
          <p:nvPr/>
        </p:nvSpPr>
        <p:spPr>
          <a:xfrm>
            <a:off x="571500" y="33782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C4944A"/>
                </a:solidFill>
                <a:latin typeface="Georgia"/>
              </a:rPr>
              <a:t>Why the Opportunity Exists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F4D8A4-5323-2B43-A02E-DAC2F05F8A33}"/>
              </a:ext>
            </a:extLst>
          </p:cNvPr>
          <p:cNvSpPr txBox="1"/>
          <p:nvPr/>
        </p:nvSpPr>
        <p:spPr>
          <a:xfrm>
            <a:off x="571500" y="3606800"/>
            <a:ext cx="812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50">
                <a:solidFill>
                  <a:srgbClr val="E8DCC8"/>
                </a:solidFill>
                <a:latin typeface="Calibri"/>
                <a:cs typeface="Calibri"/>
              </a:rPr>
              <a:t>The company does not care which AI application survives. Hyperscaler CapEx contracts already signed through 2027 ensure infrastructure hardware is purchased. That is bubble-resilience in concrete terms.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C8460A1-039F-B248-89D3-F1F14D5016DA}"/>
              </a:ext>
            </a:extLst>
          </p:cNvPr>
          <p:cNvSpPr/>
          <p:nvPr/>
        </p:nvSpPr>
        <p:spPr>
          <a:xfrm>
            <a:off x="444500" y="3987800"/>
            <a:ext cx="8356600" cy="355600"/>
          </a:xfrm>
          <a:prstGeom prst="roundRect">
            <a:avLst/>
          </a:prstGeom>
          <a:solidFill>
            <a:srgbClr val="C494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7020B6-71DC-A447-8804-39EBE8B4B7EF}"/>
              </a:ext>
            </a:extLst>
          </p:cNvPr>
          <p:cNvSpPr txBox="1"/>
          <p:nvPr/>
        </p:nvSpPr>
        <p:spPr>
          <a:xfrm>
            <a:off x="571500" y="4025900"/>
            <a:ext cx="812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2C1810"/>
                </a:solidFill>
                <a:latin typeface="Calibri"/>
                <a:cs typeface="Calibri"/>
              </a:rPr>
              <a:t>Largest position (28%): highest conviction, lowest binary event risk  |  Valuation: P/E ~35x fwd (growth premium justified)  |  Upside: 20-30%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005AD64-4684-0347-9378-3C3477675DC9}"/>
              </a:ext>
            </a:extLst>
          </p:cNvPr>
          <p:cNvSpPr/>
          <p:nvPr/>
        </p:nvSpPr>
        <p:spPr>
          <a:xfrm>
            <a:off x="444500" y="4419600"/>
            <a:ext cx="8356600" cy="5080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1FA6D4-2C93-5C44-8D0D-7BD4BF9C1CA9}"/>
              </a:ext>
            </a:extLst>
          </p:cNvPr>
          <p:cNvSpPr txBox="1"/>
          <p:nvPr/>
        </p:nvSpPr>
        <p:spPr>
          <a:xfrm>
            <a:off x="571500" y="4457700"/>
            <a:ext cx="812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E8DCC8"/>
                </a:solidFill>
                <a:latin typeface="Calibri"/>
                <a:cs typeface="Calibri"/>
              </a:rPr>
              <a:t>DCF Assumptions: 25% rev growth 2026E ($11.2B), 20% 2027E (~$13.4B) | Gross margin stable ~64% | CapEx &lt;5% of rev
P/E ~35x fwd justified by &gt;66% AI networking share + contracted hyperscaler demand | EV/Revenue ~12x on $9B base</a:t>
            </a:r>
          </a:p>
        </p:txBody>
      </p:sp>
    </p:spTree>
    <p:extLst>
      <p:ext uri="{BB962C8B-B14F-4D97-AF65-F5344CB8AC3E}">
        <p14:creationId xmlns:p14="http://schemas.microsoft.com/office/powerpoint/2010/main" val="2120503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B93842-75D6-1647-855C-7677D782D0C4}"/>
              </a:ext>
            </a:extLst>
          </p:cNvPr>
          <p:cNvSpPr txBox="1"/>
          <p:nvPr/>
        </p:nvSpPr>
        <p:spPr>
          <a:xfrm>
            <a:off x="635000" y="228600"/>
            <a:ext cx="787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5EDE0"/>
                </a:solidFill>
                <a:latin typeface="Georgia"/>
              </a:rPr>
              <a:t>LEG 4 RISK &amp; RATIONALE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ED649-37D4-C445-84D1-AA3C4564D9F2}"/>
              </a:ext>
            </a:extLst>
          </p:cNvPr>
          <p:cNvSpPr txBox="1"/>
          <p:nvPr/>
        </p:nvSpPr>
        <p:spPr>
          <a:xfrm>
            <a:off x="635000" y="6604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C4944A"/>
                </a:solidFill>
                <a:latin typeface="Calibri"/>
                <a:cs typeface="Calibri"/>
              </a:rPr>
              <a:t>AI Infrastructure: Arista Networks (ANET)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4325EFC-184A-5543-80C8-E123D60CA1D7}"/>
              </a:ext>
            </a:extLst>
          </p:cNvPr>
          <p:cNvSpPr/>
          <p:nvPr/>
        </p:nvSpPr>
        <p:spPr>
          <a:xfrm>
            <a:off x="444500" y="1041400"/>
            <a:ext cx="4064000" cy="1905000"/>
          </a:xfrm>
          <a:prstGeom prst="roundRect">
            <a:avLst/>
          </a:prstGeom>
          <a:solidFill>
            <a:srgbClr val="4A22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FDC92-7BB1-8A47-8F5D-6CC0D3FB74CF}"/>
              </a:ext>
            </a:extLst>
          </p:cNvPr>
          <p:cNvSpPr txBox="1"/>
          <p:nvPr/>
        </p:nvSpPr>
        <p:spPr>
          <a:xfrm>
            <a:off x="571500" y="1092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D4A96A"/>
                </a:solidFill>
                <a:latin typeface="Georgia"/>
              </a:rPr>
              <a:t>Key Risks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C78D1-17F1-4A43-AB9E-75FB952160C4}"/>
              </a:ext>
            </a:extLst>
          </p:cNvPr>
          <p:cNvSpPr txBox="1"/>
          <p:nvPr/>
        </p:nvSpPr>
        <p:spPr>
          <a:xfrm>
            <a:off x="571500" y="1371600"/>
            <a:ext cx="381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E8DCC8"/>
                </a:solidFill>
                <a:latin typeface="Calibri"/>
                <a:cs typeface="Calibri"/>
              </a:rPr>
              <a:t>• Confirmed hyperscaler CapEx freeze sustained across two consecutive earnings quarters
• Nvidia vertical integration into networking
• AI infrastructure build-out slowing faster than consensus timeline
• Competitive pressure from Cisco or Juniper in AI networking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E0891AD-6B00-364B-922E-42CAC7AB3801}"/>
              </a:ext>
            </a:extLst>
          </p:cNvPr>
          <p:cNvSpPr/>
          <p:nvPr/>
        </p:nvSpPr>
        <p:spPr>
          <a:xfrm>
            <a:off x="4673600" y="1041400"/>
            <a:ext cx="4127500" cy="19050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D1509-3849-3841-A4E4-9F77F38AE09E}"/>
              </a:ext>
            </a:extLst>
          </p:cNvPr>
          <p:cNvSpPr txBox="1"/>
          <p:nvPr/>
        </p:nvSpPr>
        <p:spPr>
          <a:xfrm>
            <a:off x="4800600" y="1092200"/>
            <a:ext cx="393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C4944A"/>
                </a:solidFill>
                <a:latin typeface="Georgia"/>
              </a:rPr>
              <a:t>Mitigation &amp; Position Sizing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DD97C3-51A0-CB47-9D80-61F7B36CEEDC}"/>
              </a:ext>
            </a:extLst>
          </p:cNvPr>
          <p:cNvSpPr txBox="1"/>
          <p:nvPr/>
        </p:nvSpPr>
        <p:spPr>
          <a:xfrm>
            <a:off x="4800600" y="1371600"/>
            <a:ext cx="3937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E8DCC8"/>
                </a:solidFill>
                <a:latin typeface="Calibri"/>
                <a:cs typeface="Calibri"/>
              </a:rPr>
              <a:t>• &gt;66% market share provides defensible competitive moat
• CapEx contracts are signed and contractually locked through 2027
• 2% stop-loss below entry; rotation to VRT/AVGO if CapEx intact
• Revenue is hardware-driven, not dependent on AI application success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ADE7D37-4938-EE43-B4A5-5FE712B6248D}"/>
              </a:ext>
            </a:extLst>
          </p:cNvPr>
          <p:cNvSpPr/>
          <p:nvPr/>
        </p:nvSpPr>
        <p:spPr>
          <a:xfrm>
            <a:off x="444500" y="3073400"/>
            <a:ext cx="8356600" cy="635000"/>
          </a:xfrm>
          <a:prstGeom prst="roundRect">
            <a:avLst/>
          </a:prstGeom>
          <a:solidFill>
            <a:srgbClr val="5C3D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DDBF92-9401-964A-818A-F0B5A4A7B3B1}"/>
              </a:ext>
            </a:extLst>
          </p:cNvPr>
          <p:cNvSpPr txBox="1"/>
          <p:nvPr/>
        </p:nvSpPr>
        <p:spPr>
          <a:xfrm>
            <a:off x="571500" y="31242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C4944A"/>
                </a:solidFill>
                <a:latin typeface="Georgia"/>
              </a:rPr>
              <a:t>What Would Change Our 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AC7A8-83A8-6247-A446-1C3C992A360D}"/>
              </a:ext>
            </a:extLst>
          </p:cNvPr>
          <p:cNvSpPr txBox="1"/>
          <p:nvPr/>
        </p:nvSpPr>
        <p:spPr>
          <a:xfrm>
            <a:off x="571500" y="3352800"/>
            <a:ext cx="812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E8DCC8"/>
                </a:solidFill>
                <a:latin typeface="Calibri"/>
                <a:cs typeface="Calibri"/>
              </a:rPr>
              <a:t>A confirmed hyperscaler CapEx freeze sustained across two consecutive earnings quarters would shift the risk/reward unfavorably, signaling that AI infrastructure build-out is slowing faster than the consensus timeline assumed.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3EECEDC-430F-B94D-9E5C-02D6723E968B}"/>
              </a:ext>
            </a:extLst>
          </p:cNvPr>
          <p:cNvSpPr/>
          <p:nvPr/>
        </p:nvSpPr>
        <p:spPr>
          <a:xfrm>
            <a:off x="444500" y="3810000"/>
            <a:ext cx="8356600" cy="482600"/>
          </a:xfrm>
          <a:prstGeom prst="roundRect">
            <a:avLst/>
          </a:prstGeom>
          <a:solidFill>
            <a:srgbClr val="C494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F4E50-F9C5-0C4F-B14F-38215FB0E3E8}"/>
              </a:ext>
            </a:extLst>
          </p:cNvPr>
          <p:cNvSpPr txBox="1"/>
          <p:nvPr/>
        </p:nvSpPr>
        <p:spPr>
          <a:xfrm>
            <a:off x="571500" y="38608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2C1810"/>
                </a:solidFill>
                <a:latin typeface="Calibri"/>
                <a:cs typeface="Calibri"/>
              </a:rPr>
              <a:t>Valuation: P/E ~35x fwd (growth premium)  |  FY2025: $9.0B rev, ~64% gross margin  |  2026E: ~$11.2B (+25%)  |  Upside: 20-30% on guidance beat</a:t>
            </a:r>
          </a:p>
        </p:txBody>
      </p:sp>
    </p:spTree>
    <p:extLst>
      <p:ext uri="{BB962C8B-B14F-4D97-AF65-F5344CB8AC3E}">
        <p14:creationId xmlns:p14="http://schemas.microsoft.com/office/powerpoint/2010/main" val="3884854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DEB0AC-296E-9D44-A1D7-DF9D1D0D319B}"/>
              </a:ext>
            </a:extLst>
          </p:cNvPr>
          <p:cNvSpPr txBox="1"/>
          <p:nvPr/>
        </p:nvSpPr>
        <p:spPr>
          <a:xfrm>
            <a:off x="508000" y="1016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5EDE0"/>
                </a:solidFill>
                <a:latin typeface="Georgia"/>
              </a:rPr>
              <a:t>FINANCIAL &amp; VALUATION DEEP DIVE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60AE7B-F4FC-AF4B-852E-B862789F9C1B}"/>
              </a:ext>
            </a:extLst>
          </p:cNvPr>
          <p:cNvGraphicFramePr>
            <a:graphicFrameLocks noGrp="1"/>
          </p:cNvGraphicFramePr>
          <p:nvPr/>
        </p:nvGraphicFramePr>
        <p:xfrm>
          <a:off x="190500" y="533400"/>
          <a:ext cx="7683500" cy="247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399296738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72863015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96402374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21500986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55803199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7399407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73847852"/>
                    </a:ext>
                  </a:extLst>
                </a:gridCol>
              </a:tblGrid>
              <a:tr h="353786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2C1810"/>
                          </a:solidFill>
                          <a:latin typeface="Calibri"/>
                          <a:cs typeface="Calibri"/>
                        </a:rPr>
                        <a:t>Position</a:t>
                      </a:r>
                    </a:p>
                  </a:txBody>
                  <a:tcPr anchor="ctr">
                    <a:solidFill>
                      <a:srgbClr val="C49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2C1810"/>
                          </a:solidFill>
                          <a:latin typeface="Calibri"/>
                          <a:cs typeface="Calibri"/>
                        </a:rPr>
                        <a:t>Alloc.</a:t>
                      </a:r>
                    </a:p>
                  </a:txBody>
                  <a:tcPr anchor="ctr">
                    <a:solidFill>
                      <a:srgbClr val="C49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2C1810"/>
                          </a:solidFill>
                          <a:latin typeface="Calibri"/>
                          <a:cs typeface="Calibri"/>
                        </a:rPr>
                        <a:t>Revenue</a:t>
                      </a:r>
                    </a:p>
                  </a:txBody>
                  <a:tcPr anchor="ctr">
                    <a:solidFill>
                      <a:srgbClr val="C49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2C1810"/>
                          </a:solidFill>
                          <a:latin typeface="Calibri"/>
                          <a:cs typeface="Calibri"/>
                        </a:rPr>
                        <a:t>Key Ratio</a:t>
                      </a:r>
                    </a:p>
                  </a:txBody>
                  <a:tcPr anchor="ctr">
                    <a:solidFill>
                      <a:srgbClr val="C49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2C1810"/>
                          </a:solidFill>
                          <a:latin typeface="Calibri"/>
                          <a:cs typeface="Calibri"/>
                        </a:rPr>
                        <a:t>Valuation</a:t>
                      </a:r>
                    </a:p>
                  </a:txBody>
                  <a:tcPr anchor="ctr">
                    <a:solidFill>
                      <a:srgbClr val="C49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2C1810"/>
                          </a:solidFill>
                          <a:latin typeface="Calibri"/>
                          <a:cs typeface="Calibri"/>
                        </a:rPr>
                        <a:t>Bull Upside</a:t>
                      </a:r>
                    </a:p>
                  </a:txBody>
                  <a:tcPr anchor="ctr">
                    <a:solidFill>
                      <a:srgbClr val="C49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2C1810"/>
                          </a:solidFill>
                          <a:latin typeface="Calibri"/>
                          <a:cs typeface="Calibri"/>
                        </a:rPr>
                        <a:t>Bear/Stop</a:t>
                      </a:r>
                    </a:p>
                  </a:txBody>
                  <a:tcPr anchor="ctr">
                    <a:solidFill>
                      <a:srgbClr val="C49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5134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C4944A"/>
                          </a:solidFill>
                          <a:latin typeface="Calibri"/>
                          <a:cs typeface="Calibri"/>
                        </a:rPr>
                        <a:t>DVN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10%
$10K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$2.6B net earn
840 MBoe/d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Debt/EBITDAX
0.9x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WTI to $65
H2 2026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+20-30%
(call prem.)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Max loss =
premium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428156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C4944A"/>
                          </a:solidFill>
                          <a:latin typeface="Calibri"/>
                          <a:cs typeface="Calibri"/>
                        </a:rPr>
                        <a:t>FANG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10%
$10K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BBB/BBB+
$2B buyback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Best-in-class
unit costs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Permian pure
play prem.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+20-30%
(call prem.)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Max loss =
premium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03834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C4944A"/>
                          </a:solidFill>
                          <a:latin typeface="Calibri"/>
                          <a:cs typeface="Calibri"/>
                        </a:rPr>
                        <a:t>SMR (Short)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8%
$8K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$8.2M Q3
(miss 26%)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ROE: -298%
P/S &gt;200x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Cash burn
&lt;4Q runway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+30-50%
(solvency)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4% stop
above entry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16719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C4944A"/>
                          </a:solidFill>
                          <a:latin typeface="Calibri"/>
                          <a:cs typeface="Calibri"/>
                        </a:rPr>
                        <a:t>TCEHY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22%
$22K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$102.5B TTM
30% op margin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$29.3B FCF
43% intl growth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P/E ~18x fwd
FCF yield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+20-25%
(margin exp.)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2% stop
below entry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79930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C4944A"/>
                          </a:solidFill>
                          <a:latin typeface="Calibri"/>
                          <a:cs typeface="Calibri"/>
                        </a:rPr>
                        <a:t>PDD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15%
$15K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Temu GMV accel.
NA/EU/SEA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Revenue growth
multiple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Tariff moat
structural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+25-35%
(GMV growth)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2% stop
below entry</a:t>
                      </a:r>
                    </a:p>
                  </a:txBody>
                  <a:tcPr anchor="ctr">
                    <a:solidFill>
                      <a:srgbClr val="3D23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79650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C4944A"/>
                          </a:solidFill>
                          <a:latin typeface="Calibri"/>
                          <a:cs typeface="Calibri"/>
                        </a:rPr>
                        <a:t>ANET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28%
$28K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$9.0B FY25
Q4: $2.49B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64% gross mgn
&gt;66% mkt share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P/E ~35x fwd
2026E: $11.2B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+20-30%
(guidance)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>
                          <a:solidFill>
                            <a:srgbClr val="E8DCC8"/>
                          </a:solidFill>
                          <a:latin typeface="Calibri"/>
                          <a:cs typeface="Calibri"/>
                        </a:rPr>
                        <a:t>2% stop
below entry</a:t>
                      </a:r>
                    </a:p>
                  </a:txBody>
                  <a:tcPr anchor="ctr">
                    <a:solidFill>
                      <a:srgbClr val="4A2E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531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15837E2-E585-1F41-BC74-AD579036A32F}"/>
              </a:ext>
            </a:extLst>
          </p:cNvPr>
          <p:cNvSpPr txBox="1"/>
          <p:nvPr/>
        </p:nvSpPr>
        <p:spPr>
          <a:xfrm>
            <a:off x="190500" y="3022600"/>
            <a:ext cx="889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>
                <a:solidFill>
                  <a:srgbClr val="8B7B68"/>
                </a:solidFill>
                <a:latin typeface="Calibri"/>
                <a:cs typeface="Calibri"/>
              </a:rPr>
              <a:t>Assumptions: WTI mean-reverts to $65 by H2 2026 (Venezuelan supply)  |  SMR fails to convert MOUs  |  Hyperscaler CapEx holds through 2027  |  China-West diversification continues</a:t>
            </a:r>
          </a:p>
        </p:txBody>
      </p:sp>
      <p:graphicFrame>
        <p:nvGraphicFramePr>
          <p:cNvPr id="301" name="Doughnut Chart"/>
          <p:cNvGraphicFramePr/>
          <p:nvPr>
            <p:extLst>
              <p:ext uri="{D42A27DB-BD31-4B8C-83A1-F6EECF244321}">
                <p14:modId xmlns:p14="http://schemas.microsoft.com/office/powerpoint/2010/main" val="2179634278"/>
              </p:ext>
            </p:extLst>
          </p:nvPr>
        </p:nvGraphicFramePr>
        <p:xfrm>
          <a:off x="-460291" y="2677296"/>
          <a:ext cx="5337091" cy="26882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2" name="Bar Chart"/>
          <p:cNvGraphicFramePr/>
          <p:nvPr/>
        </p:nvGraphicFramePr>
        <p:xfrm>
          <a:off x="4400000" y="3302000"/>
          <a:ext cx="45000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5878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D419A-ADB1-9940-B350-0A5D10D0CE62}"/>
              </a:ext>
            </a:extLst>
          </p:cNvPr>
          <p:cNvSpPr txBox="1"/>
          <p:nvPr/>
        </p:nvSpPr>
        <p:spPr>
          <a:xfrm>
            <a:off x="635000" y="228600"/>
            <a:ext cx="787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F5EDE0"/>
                </a:solidFill>
                <a:latin typeface="Georgia"/>
              </a:rPr>
              <a:t>CONCLUSION &amp; CONVICTION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EEC9747-1E23-0144-9334-0F83DDA95848}"/>
              </a:ext>
            </a:extLst>
          </p:cNvPr>
          <p:cNvSpPr/>
          <p:nvPr/>
        </p:nvSpPr>
        <p:spPr>
          <a:xfrm>
            <a:off x="444500" y="863600"/>
            <a:ext cx="2692400" cy="13970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40AE6E8-02D0-D743-A34C-649213F33B43}"/>
              </a:ext>
            </a:extLst>
          </p:cNvPr>
          <p:cNvSpPr/>
          <p:nvPr/>
        </p:nvSpPr>
        <p:spPr>
          <a:xfrm>
            <a:off x="546100" y="965200"/>
            <a:ext cx="355600" cy="355600"/>
          </a:xfrm>
          <a:prstGeom prst="ellipse">
            <a:avLst/>
          </a:prstGeom>
          <a:solidFill>
            <a:srgbClr val="8B5E3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5EDE0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0FA84A-4F3E-2B49-9D89-3759EB3F7AB3}"/>
              </a:ext>
            </a:extLst>
          </p:cNvPr>
          <p:cNvSpPr txBox="1"/>
          <p:nvPr/>
        </p:nvSpPr>
        <p:spPr>
          <a:xfrm>
            <a:off x="977900" y="9906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B5E3C"/>
                </a:solidFill>
                <a:latin typeface="Georgia"/>
              </a:rPr>
              <a:t>Coherence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C5E9E9-EF54-1641-935E-C96CD4B6E919}"/>
              </a:ext>
            </a:extLst>
          </p:cNvPr>
          <p:cNvSpPr txBox="1"/>
          <p:nvPr/>
        </p:nvSpPr>
        <p:spPr>
          <a:xfrm>
            <a:off x="571500" y="1371600"/>
            <a:ext cx="24384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50">
                <a:solidFill>
                  <a:srgbClr val="E8DCC8"/>
                </a:solidFill>
                <a:latin typeface="Calibri"/>
                <a:cs typeface="Calibri"/>
              </a:rPr>
              <a:t>Every position connects to the same macro narrative: geopolitical realignment creating mispricings that fundamentals will correct. Not isolated sector bets.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F01684F-1581-B24B-9998-4E699384C7FB}"/>
              </a:ext>
            </a:extLst>
          </p:cNvPr>
          <p:cNvSpPr/>
          <p:nvPr/>
        </p:nvSpPr>
        <p:spPr>
          <a:xfrm>
            <a:off x="3263900" y="863600"/>
            <a:ext cx="2692400" cy="13970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6BB7072-7225-2D4B-A535-9996FEF27349}"/>
              </a:ext>
            </a:extLst>
          </p:cNvPr>
          <p:cNvSpPr/>
          <p:nvPr/>
        </p:nvSpPr>
        <p:spPr>
          <a:xfrm>
            <a:off x="3365500" y="965200"/>
            <a:ext cx="355600" cy="355600"/>
          </a:xfrm>
          <a:prstGeom prst="ellipse">
            <a:avLst/>
          </a:prstGeom>
          <a:solidFill>
            <a:srgbClr val="C494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5EDE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482555-A58B-6A44-9492-4A6FB29642D9}"/>
              </a:ext>
            </a:extLst>
          </p:cNvPr>
          <p:cNvSpPr txBox="1"/>
          <p:nvPr/>
        </p:nvSpPr>
        <p:spPr>
          <a:xfrm>
            <a:off x="3797300" y="9906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C4944A"/>
                </a:solidFill>
                <a:latin typeface="Georgia"/>
              </a:rPr>
              <a:t>Asymmetry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EF9D4-AE4A-D449-8941-AE3C40517211}"/>
              </a:ext>
            </a:extLst>
          </p:cNvPr>
          <p:cNvSpPr txBox="1"/>
          <p:nvPr/>
        </p:nvSpPr>
        <p:spPr>
          <a:xfrm>
            <a:off x="3390900" y="1371600"/>
            <a:ext cx="24384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50">
                <a:solidFill>
                  <a:srgbClr val="E8DCC8"/>
                </a:solidFill>
                <a:latin typeface="Calibri"/>
                <a:cs typeface="Calibri"/>
              </a:rPr>
              <a:t>Instrument selection ensures maximum loss on any leg is bounded while upside remains open. Options cap downside; stop-losses enforce discipline.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0E73DC-9B9C-0349-B37C-A56B2CB4DE85}"/>
              </a:ext>
            </a:extLst>
          </p:cNvPr>
          <p:cNvSpPr/>
          <p:nvPr/>
        </p:nvSpPr>
        <p:spPr>
          <a:xfrm>
            <a:off x="6083300" y="863600"/>
            <a:ext cx="2692400" cy="13970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15069B-FCE7-FF45-B450-614B9247519C}"/>
              </a:ext>
            </a:extLst>
          </p:cNvPr>
          <p:cNvSpPr/>
          <p:nvPr/>
        </p:nvSpPr>
        <p:spPr>
          <a:xfrm>
            <a:off x="6184900" y="965200"/>
            <a:ext cx="355600" cy="355600"/>
          </a:xfrm>
          <a:prstGeom prst="ellipse">
            <a:avLst/>
          </a:prstGeom>
          <a:solidFill>
            <a:srgbClr val="7A8B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5EDE0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A318C4-9C49-484D-9FAC-1A40CD8E104A}"/>
              </a:ext>
            </a:extLst>
          </p:cNvPr>
          <p:cNvSpPr txBox="1"/>
          <p:nvPr/>
        </p:nvSpPr>
        <p:spPr>
          <a:xfrm>
            <a:off x="6616700" y="9906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7A8B6F"/>
                </a:solidFill>
                <a:latin typeface="Georgia"/>
              </a:rPr>
              <a:t>Discipline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9D4EBA-9D51-CB4B-BF26-5ED9FEC3DE1B}"/>
              </a:ext>
            </a:extLst>
          </p:cNvPr>
          <p:cNvSpPr txBox="1"/>
          <p:nvPr/>
        </p:nvSpPr>
        <p:spPr>
          <a:xfrm>
            <a:off x="6210300" y="1371600"/>
            <a:ext cx="24384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50" dirty="0">
                <a:solidFill>
                  <a:srgbClr val="E8DCC8"/>
                </a:solidFill>
                <a:latin typeface="Calibri"/>
                <a:cs typeface="Calibri"/>
              </a:rPr>
              <a:t>Tiered stop-loss and five-step reentry protocol replaces emotional decision-making. Leg 5's $7,000 cash reserve funds disciplined reentry, not passive idle capital.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AA74ABB-0261-0A44-9EB3-1C66ABAEB823}"/>
              </a:ext>
            </a:extLst>
          </p:cNvPr>
          <p:cNvSpPr/>
          <p:nvPr/>
        </p:nvSpPr>
        <p:spPr>
          <a:xfrm>
            <a:off x="444500" y="2413000"/>
            <a:ext cx="8356600" cy="1270000"/>
          </a:xfrm>
          <a:prstGeom prst="roundRect">
            <a:avLst/>
          </a:prstGeom>
          <a:solidFill>
            <a:srgbClr val="4A2E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0B8202-0049-6A4B-AE77-E6EE00C5937E}"/>
              </a:ext>
            </a:extLst>
          </p:cNvPr>
          <p:cNvSpPr txBox="1"/>
          <p:nvPr/>
        </p:nvSpPr>
        <p:spPr>
          <a:xfrm>
            <a:off x="571500" y="2463800"/>
            <a:ext cx="812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C4944A"/>
                </a:solidFill>
                <a:latin typeface="Georgia"/>
              </a:rPr>
              <a:t>What Would Change Our 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B0D21F-469E-954B-ABB3-7D65CFB468E9}"/>
              </a:ext>
            </a:extLst>
          </p:cNvPr>
          <p:cNvSpPr txBox="1"/>
          <p:nvPr/>
        </p:nvSpPr>
        <p:spPr>
          <a:xfrm>
            <a:off x="571500" y="2743200"/>
            <a:ext cx="812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dirty="0">
                <a:solidFill>
                  <a:srgbClr val="E8DCC8"/>
                </a:solidFill>
                <a:latin typeface="Calibri"/>
                <a:cs typeface="Calibri"/>
              </a:rPr>
              <a:t>• Leg 1: Sustained WTI break below $50/bbl held through Q3 2026
• Leg 2: Binding commercial contract (not MOU) extending NuScale runway beyond 8 quarters
• Leg 3: Confirmed U.S. forced delisting proceedings or kinetic Taiwan Strait escalation
• Leg 4: Confirmed hyperscaler CapEx freeze sustained across two consecutive earnings quarters
• Leg 5: Cash reserve is the explicit funding source for reentry; depleted only through the five-step protocol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97D7AC7-68D7-BB4C-A45F-E54CF41F4616}"/>
              </a:ext>
            </a:extLst>
          </p:cNvPr>
          <p:cNvSpPr/>
          <p:nvPr/>
        </p:nvSpPr>
        <p:spPr>
          <a:xfrm>
            <a:off x="444500" y="3810000"/>
            <a:ext cx="8356600" cy="635000"/>
          </a:xfrm>
          <a:prstGeom prst="roundRect">
            <a:avLst/>
          </a:prstGeom>
          <a:solidFill>
            <a:srgbClr val="3D231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98DAE8-0E73-D24B-8092-DDA3DD6BDBF6}"/>
              </a:ext>
            </a:extLst>
          </p:cNvPr>
          <p:cNvSpPr txBox="1"/>
          <p:nvPr/>
        </p:nvSpPr>
        <p:spPr>
          <a:xfrm>
            <a:off x="635000" y="3886200"/>
            <a:ext cx="8001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C4944A"/>
                </a:solidFill>
                <a:latin typeface="Georgia"/>
              </a:rPr>
              <a:t>This portfolio does not merely own attractive stocks. It manages the relationship between conviction, capital, and risk in a way that is transparent, replicable, and defensible under scrutiny.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4913D3-1912-2646-A7D3-B00123537DA6}"/>
              </a:ext>
            </a:extLst>
          </p:cNvPr>
          <p:cNvSpPr txBox="1"/>
          <p:nvPr/>
        </p:nvSpPr>
        <p:spPr>
          <a:xfrm>
            <a:off x="1270000" y="4597400"/>
            <a:ext cx="660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8B7B68"/>
                </a:solidFill>
                <a:latin typeface="Calibri"/>
                <a:cs typeface="Calibri"/>
              </a:rPr>
              <a:t>Team Halal Cart  |  Drexel LeBow DSAB Research Challenge  |  March 4, 2026</a:t>
            </a:r>
          </a:p>
        </p:txBody>
      </p:sp>
    </p:spTree>
    <p:extLst>
      <p:ext uri="{BB962C8B-B14F-4D97-AF65-F5344CB8AC3E}">
        <p14:creationId xmlns:p14="http://schemas.microsoft.com/office/powerpoint/2010/main" val="2876386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spresso Brown">
      <a:dk1>
        <a:srgbClr val="F5EDE0"/>
      </a:dk1>
      <a:lt1>
        <a:srgbClr val="2C1810"/>
      </a:lt1>
      <a:dk2>
        <a:srgbClr val="E8DCC8"/>
      </a:dk2>
      <a:lt2>
        <a:srgbClr val="4A2E1F"/>
      </a:lt2>
      <a:accent1>
        <a:srgbClr val="C4944A"/>
      </a:accent1>
      <a:accent2>
        <a:srgbClr val="8B5E3C"/>
      </a:accent2>
      <a:accent3>
        <a:srgbClr val="7A8B6F"/>
      </a:accent3>
      <a:accent4>
        <a:srgbClr val="8C4A4A"/>
      </a:accent4>
      <a:accent5>
        <a:srgbClr val="D4A96A"/>
      </a:accent5>
      <a:accent6>
        <a:srgbClr val="5C3D2E"/>
      </a:accent6>
      <a:hlink>
        <a:srgbClr val="C4944A"/>
      </a:hlink>
      <a:folHlink>
        <a:srgbClr val="8B5E3C"/>
      </a:folHlink>
    </a:clrScheme>
    <a:fontScheme name="Espresso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B6DC2B-13D9-DF47-A897-E3F9C41E8F74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2561</Words>
  <Application>Microsoft Macintosh PowerPoint</Application>
  <PresentationFormat>On-screen Show (16:9)</PresentationFormat>
  <Paragraphs>195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Realignment Trade</dc:title>
  <dc:subject>PptxGenJS Presentation</dc:subject>
  <dc:creator>PptxGenJS</dc:creator>
  <cp:lastModifiedBy>will Zhang</cp:lastModifiedBy>
  <cp:revision>6</cp:revision>
  <dcterms:created xsi:type="dcterms:W3CDTF">2026-03-04T14:07:10Z</dcterms:created>
  <dcterms:modified xsi:type="dcterms:W3CDTF">2026-03-05T21:47:38Z</dcterms:modified>
</cp:coreProperties>
</file>