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3" r:id="rId8"/>
    <p:sldId id="270" r:id="rId9"/>
    <p:sldId id="272" r:id="rId10"/>
    <p:sldId id="273" r:id="rId11"/>
    <p:sldId id="269" r:id="rId12"/>
    <p:sldId id="261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rexel0-my.sharepoint.com/personal/wz363_drexel_edu/Documents/FutureF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rexel0-my.sharepoint.com/personal/wz363_drexel_edu/Documents/FutureF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B2C Revenue Projections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{"Year 1"}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rgbClr val="F2CEE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Model'!$B$10</c:f>
              <c:strCache>
                <c:ptCount val="1"/>
                <c:pt idx="0">
                  <c:v>Total Subscription Revenue</c:v>
                </c:pt>
              </c:strCache>
            </c:strRef>
          </c:cat>
          <c:val>
            <c:numRef>
              <c:f>'Revenue Model'!$C$10</c:f>
              <c:numCache>
                <c:formatCode>"$"#,##0</c:formatCode>
                <c:ptCount val="1"/>
                <c:pt idx="0">
                  <c:v>273600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B3-40A5-9CC3-9E534886371C}"/>
            </c:ext>
          </c:extLst>
        </c:ser>
        <c:ser>
          <c:idx val="1"/>
          <c:order val="1"/>
          <c:tx>
            <c:strRef>
              <c:f>{"Year 2"}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rgbClr val="E49ED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Model'!$B$10</c:f>
              <c:strCache>
                <c:ptCount val="1"/>
                <c:pt idx="0">
                  <c:v>Total Subscription Revenue</c:v>
                </c:pt>
              </c:strCache>
            </c:strRef>
          </c:cat>
          <c:val>
            <c:numRef>
              <c:f>'Revenue Model'!$D$10</c:f>
              <c:numCache>
                <c:formatCode>"$"#,##0</c:formatCode>
                <c:ptCount val="1"/>
                <c:pt idx="0">
                  <c:v>1231200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B3-40A5-9CC3-9E534886371C}"/>
            </c:ext>
          </c:extLst>
        </c:ser>
        <c:ser>
          <c:idx val="2"/>
          <c:order val="2"/>
          <c:tx>
            <c:strRef>
              <c:f>{"Year 3"}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rgbClr val="E49ED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Model'!$B$10</c:f>
              <c:strCache>
                <c:ptCount val="1"/>
                <c:pt idx="0">
                  <c:v>Total Subscription Revenue</c:v>
                </c:pt>
              </c:strCache>
            </c:strRef>
          </c:cat>
          <c:val>
            <c:numRef>
              <c:f>'Revenue Model'!$E$10</c:f>
              <c:numCache>
                <c:formatCode>"$"#,##0</c:formatCode>
                <c:ptCount val="1"/>
                <c:pt idx="0">
                  <c:v>5130000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B3-40A5-9CC3-9E534886371C}"/>
            </c:ext>
          </c:extLst>
        </c:ser>
        <c:ser>
          <c:idx val="3"/>
          <c:order val="3"/>
          <c:tx>
            <c:strRef>
              <c:f>{"Year 4"}</c:f>
              <c:strCache>
                <c:ptCount val="1"/>
                <c:pt idx="0">
                  <c:v>Year 4</c:v>
                </c:pt>
              </c:strCache>
            </c:strRef>
          </c:tx>
          <c:spPr>
            <a:solidFill>
              <a:srgbClr val="78217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Model'!$B$10</c:f>
              <c:strCache>
                <c:ptCount val="1"/>
                <c:pt idx="0">
                  <c:v>Total Subscription Revenue</c:v>
                </c:pt>
              </c:strCache>
            </c:strRef>
          </c:cat>
          <c:val>
            <c:numRef>
              <c:f>'Revenue Model'!$F$10</c:f>
              <c:numCache>
                <c:formatCode>"$"#,##0</c:formatCode>
                <c:ptCount val="1"/>
                <c:pt idx="0">
                  <c:v>21546000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B3-40A5-9CC3-9E534886371C}"/>
            </c:ext>
          </c:extLst>
        </c:ser>
        <c:ser>
          <c:idx val="4"/>
          <c:order val="4"/>
          <c:tx>
            <c:v>Year 5</c:v>
          </c:tx>
          <c:spPr>
            <a:solidFill>
              <a:srgbClr val="51154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Model'!$B$10</c:f>
              <c:strCache>
                <c:ptCount val="1"/>
                <c:pt idx="0">
                  <c:v>Total Subscription Revenue</c:v>
                </c:pt>
              </c:strCache>
            </c:strRef>
          </c:cat>
          <c:val>
            <c:numRef>
              <c:f>'Revenue Model'!$G$10</c:f>
              <c:numCache>
                <c:formatCode>"$"#,##0</c:formatCode>
                <c:ptCount val="1"/>
                <c:pt idx="0">
                  <c:v>68400000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1B3-40A5-9CC3-9E5348863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3056264"/>
        <c:axId val="353058312"/>
      </c:barChart>
      <c:catAx>
        <c:axId val="353056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3058312"/>
        <c:crosses val="autoZero"/>
        <c:auto val="1"/>
        <c:lblAlgn val="ctr"/>
        <c:lblOffset val="100"/>
        <c:noMultiLvlLbl val="0"/>
      </c:catAx>
      <c:valAx>
        <c:axId val="353058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3056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B2B Revenue Projections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595959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Year 1</c:v>
          </c:tx>
          <c:spPr>
            <a:solidFill>
              <a:srgbClr val="F2CEE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Model'!$B$15</c:f>
              <c:strCache>
                <c:ptCount val="1"/>
                <c:pt idx="0">
                  <c:v>Total B2B Revenue</c:v>
                </c:pt>
              </c:strCache>
            </c:strRef>
          </c:cat>
          <c:val>
            <c:numRef>
              <c:f>'Revenue Model'!$C$15</c:f>
              <c:numCache>
                <c:formatCode>"$"#,##0</c:formatCode>
                <c:ptCount val="1"/>
                <c:pt idx="0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9-4FC7-B456-F1FD964F33CE}"/>
            </c:ext>
          </c:extLst>
        </c:ser>
        <c:ser>
          <c:idx val="1"/>
          <c:order val="1"/>
          <c:tx>
            <c:v>Year 2</c:v>
          </c:tx>
          <c:spPr>
            <a:solidFill>
              <a:srgbClr val="E49ED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Model'!$B$15</c:f>
              <c:strCache>
                <c:ptCount val="1"/>
                <c:pt idx="0">
                  <c:v>Total B2B Revenue</c:v>
                </c:pt>
              </c:strCache>
            </c:strRef>
          </c:cat>
          <c:val>
            <c:numRef>
              <c:f>'Revenue Model'!$D$15</c:f>
              <c:numCache>
                <c:formatCode>"$"#,##0</c:formatCode>
                <c:ptCount val="1"/>
                <c:pt idx="0">
                  <c:v>399990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59-4FC7-B456-F1FD964F33CE}"/>
            </c:ext>
          </c:extLst>
        </c:ser>
        <c:ser>
          <c:idx val="2"/>
          <c:order val="2"/>
          <c:tx>
            <c:v>Year 3</c:v>
          </c:tx>
          <c:spPr>
            <a:solidFill>
              <a:srgbClr val="D86DC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Model'!$B$15</c:f>
              <c:strCache>
                <c:ptCount val="1"/>
                <c:pt idx="0">
                  <c:v>Total B2B Revenue</c:v>
                </c:pt>
              </c:strCache>
            </c:strRef>
          </c:cat>
          <c:val>
            <c:numRef>
              <c:f>'Revenue Model'!$E$15</c:f>
              <c:numCache>
                <c:formatCode>"$"#,##0</c:formatCode>
                <c:ptCount val="1"/>
                <c:pt idx="0">
                  <c:v>1200000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59-4FC7-B456-F1FD964F33CE}"/>
            </c:ext>
          </c:extLst>
        </c:ser>
        <c:ser>
          <c:idx val="3"/>
          <c:order val="3"/>
          <c:tx>
            <c:v>Year 4</c:v>
          </c:tx>
          <c:spPr>
            <a:solidFill>
              <a:srgbClr val="78217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Model'!$B$15</c:f>
              <c:strCache>
                <c:ptCount val="1"/>
                <c:pt idx="0">
                  <c:v>Total B2B Revenue</c:v>
                </c:pt>
              </c:strCache>
            </c:strRef>
          </c:cat>
          <c:val>
            <c:numRef>
              <c:f>'Revenue Model'!$F$15</c:f>
              <c:numCache>
                <c:formatCode>"$"#,##0</c:formatCode>
                <c:ptCount val="1"/>
                <c:pt idx="0">
                  <c:v>3500000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459-4FC7-B456-F1FD964F33CE}"/>
            </c:ext>
          </c:extLst>
        </c:ser>
        <c:ser>
          <c:idx val="4"/>
          <c:order val="4"/>
          <c:tx>
            <c:v>Year 5</c:v>
          </c:tx>
          <c:spPr>
            <a:solidFill>
              <a:srgbClr val="51154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Model'!$B$15</c:f>
              <c:strCache>
                <c:ptCount val="1"/>
                <c:pt idx="0">
                  <c:v>Total B2B Revenue</c:v>
                </c:pt>
              </c:strCache>
            </c:strRef>
          </c:cat>
          <c:val>
            <c:numRef>
              <c:f>'Revenue Model'!$G$15</c:f>
              <c:numCache>
                <c:formatCode>"$"#,##0</c:formatCode>
                <c:ptCount val="1"/>
                <c:pt idx="0">
                  <c:v>7999950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59-4FC7-B456-F1FD964F33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3056264"/>
        <c:axId val="353058312"/>
      </c:barChart>
      <c:catAx>
        <c:axId val="353056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3058312"/>
        <c:crosses val="autoZero"/>
        <c:auto val="1"/>
        <c:lblAlgn val="ctr"/>
        <c:lblOffset val="100"/>
        <c:noMultiLvlLbl val="0"/>
      </c:catAx>
      <c:valAx>
        <c:axId val="353058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3056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DAF5-B9DD-9E8F-4C7A-D385096F8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6290B-E18D-6B8E-D2B4-DD57CFD64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9D400-A94C-20AD-9F91-18977B0A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B37F-32C0-CB4A-774D-A982479A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30898-F2A1-1B88-353B-F335DF1B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8792E-5486-6C4D-AA3B-C5B36C61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628D3-24A1-83DB-26F3-01D7F5F00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2DDAC-9168-7448-5B18-969CB22F7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B766-6009-01C3-C135-44195C7C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46E8F-6355-F8DD-D189-12ECE3AE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45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92F1-6EFA-EF88-D461-FD4A020B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631D4-8397-E356-93FB-308B6C912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69224-E031-EC06-0B5B-30390636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86F99-88B4-E652-18E6-EA2AF84B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7D670-942D-F180-7D17-C9240E79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3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3B277-D651-5E02-9F31-BDD575CF8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D2FA-7338-D3C2-DD81-95DEA722F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F5838-FD17-263A-3257-6F5EE5AEF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D5DCC-9194-F817-000E-4E0369A7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788A8-DB8F-CE2C-25D4-EBE9CCFA3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EC002-DCA5-828F-66E1-44E9D279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9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C67A-F5BC-D44B-691A-577B2ED2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94DD4-511A-1845-8A29-559736C8E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05B1-E8B2-4B19-1A1B-CFAE289BD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4125F-4531-DD8D-E6CE-2FD5BB2A6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5F11A-C43A-5AAE-BA99-EDA96044D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5DB78-9A09-550B-2A9D-738A77F4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0D299-8439-15F5-9DCB-2EE6A798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D181FC-0306-DBB6-D7C1-36FD8368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C3B0-6FEE-E285-9DE0-63550527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324FCC-0898-C379-6192-210BF829D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51AE1-C09F-B9D9-AEC1-A31FD834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65E1A-F795-A0A4-B537-1CA13876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6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72BDF-2BB6-D383-204D-84C0B315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BFD30-BA37-07B9-534B-3D66FE465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352C7-E9A2-D8BA-481B-1E7AF998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5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B558-6DC1-C6F5-46E3-1C5B883E1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FB91B-4F54-1B1E-9345-3CB5D5788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CE5A0-42CD-2E93-180E-ECE044ECF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DCEFE-F779-6418-AA9D-E82D1EAD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A7C72-0B77-7E24-545D-5036DC3F6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D6ACF-11B6-D35F-DCEC-EA032BF4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0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E954-833B-88E3-F8AF-339B7441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0A0B5-032F-22CA-AAC6-1301F84DB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7F9A4-0EF0-8DCC-A734-9529F11BF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C9922-C310-562F-376A-95F62147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0782D-BB84-62AB-D2DC-6B88ECB7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AF692-CD46-D2DF-1EF2-83D23D059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33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55D8-6563-E1AB-AF8C-68D8D99FE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BD2D6-6E2C-7D38-0C05-905D4061E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2C123-8B6E-5BE3-9267-8842CE37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CA788-709C-B868-CDAA-BC0EC44B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E9193-B531-51E6-8223-2C65A097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0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2F993-AF84-8179-F6B4-F1AE06380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A13A7-FAC7-2676-DC64-280CAA0B5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0ADC2-783E-D03B-CC48-3B937256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E1855-820D-01BD-2FB6-CAF1C25E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10E0E-89DF-891B-8C5C-3C7D51D8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8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D9D4F-FD09-28F9-6DE1-8AC3102AB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94310-178F-D1D0-CC7A-BD10CEDF9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20AF8-36FB-56AD-1447-81654FE79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3A049-A355-334C-BDEC-39B7EF4DBF0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7649D-CE02-78A1-0820-F2E8A3954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CE8BC-0BC6-13D6-7414-153D4AF0E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D8A640-DF9D-8A43-B4BF-F2594D99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0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A5CBA79-729A-D7EF-EAC4-59E5F23CF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65" y="250931"/>
            <a:ext cx="6356131" cy="635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qr code with circles and dots&#10;&#10;AI-generated content may be incorrect.">
            <a:extLst>
              <a:ext uri="{FF2B5EF4-FFF2-40B4-BE49-F238E27FC236}">
                <a16:creationId xmlns:a16="http://schemas.microsoft.com/office/drawing/2014/main" id="{E52C1C1F-152B-17A2-F5C7-67BF935F61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01" t="3557"/>
          <a:stretch>
            <a:fillRect/>
          </a:stretch>
        </p:blipFill>
        <p:spPr>
          <a:xfrm>
            <a:off x="6524296" y="897264"/>
            <a:ext cx="4812863" cy="506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9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6E302-ED5C-8FD7-5CAD-F7B779CC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36" y="315931"/>
            <a:ext cx="10515600" cy="1325563"/>
          </a:xfrm>
        </p:spPr>
        <p:txBody>
          <a:bodyPr/>
          <a:lstStyle/>
          <a:p>
            <a:r>
              <a:rPr lang="en-US"/>
              <a:t>Identifying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03995-DEEB-D75B-706F-4DB996577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19" y="1641494"/>
            <a:ext cx="4191000" cy="48513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Many traditional social structures are beginning to deteriorate, leaving many people to experience loneliness and social fragmentation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50388-750B-7A07-B2CE-C13C0FBB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719" y="1824238"/>
            <a:ext cx="7648575" cy="3821522"/>
          </a:xfrm>
          <a:prstGeom prst="rect">
            <a:avLst/>
          </a:prstGeom>
        </p:spPr>
      </p:pic>
      <p:pic>
        <p:nvPicPr>
          <p:cNvPr id="5" name="Picture 4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9D408C64-62C5-0CD2-41A2-C15B7F932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6C3B03-AF66-AEBC-7EA9-F1600D0AE7D9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</p:spTree>
    <p:extLst>
      <p:ext uri="{BB962C8B-B14F-4D97-AF65-F5344CB8AC3E}">
        <p14:creationId xmlns:p14="http://schemas.microsoft.com/office/powerpoint/2010/main" val="256013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4B0C-7555-E955-8DEC-DC28C8EB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50">
                <a:latin typeface="Arial" panose="020B0604020202020204" pitchFamily="34" charset="0"/>
                <a:cs typeface="Arial" panose="020B0604020202020204" pitchFamily="34" charset="0"/>
              </a:rPr>
              <a:t>Our Target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AD637-E1E4-2BEA-ED1F-E72D6489A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primary market is recent college grades who have moved into a new location due to new employment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These recent graduates will be in a new environment, around new people, and will benefit from the expansion to their social network and opportunities to meet others</a:t>
            </a:r>
          </a:p>
        </p:txBody>
      </p:sp>
      <p:pic>
        <p:nvPicPr>
          <p:cNvPr id="6" name="Picture 5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2662EE94-AA02-FE65-55B9-CE82CE0067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EC0580-E31A-2D75-6C98-48A952B85C53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</p:spTree>
    <p:extLst>
      <p:ext uri="{BB962C8B-B14F-4D97-AF65-F5344CB8AC3E}">
        <p14:creationId xmlns:p14="http://schemas.microsoft.com/office/powerpoint/2010/main" val="243925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EB35-8BD9-B4F5-2069-774B571AE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50">
                <a:latin typeface="Arial" panose="020B0604020202020204" pitchFamily="34" charset="0"/>
                <a:cs typeface="Arial" panose="020B0604020202020204" pitchFamily="34" charset="0"/>
              </a:rPr>
              <a:t>Introducing Circle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C500C-90B7-0E12-63A1-1EFBB989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Circle is a digital platform revolutionizing how people connect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in one platform people can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fun local events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Meet people with similar interests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Maintain friendships built through our app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5686B8CD-6045-046A-50CE-2B85690180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DFC0F4-2A83-3A6A-D0BC-052F8596F643}"/>
              </a:ext>
            </a:extLst>
          </p:cNvPr>
          <p:cNvSpPr txBox="1"/>
          <p:nvPr/>
        </p:nvSpPr>
        <p:spPr>
          <a:xfrm>
            <a:off x="11090236" y="641742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  <p:pic>
        <p:nvPicPr>
          <p:cNvPr id="6" name="Picture 5" descr="A qr code with circles and dots&#10;&#10;AI-generated content may be incorrect.">
            <a:extLst>
              <a:ext uri="{FF2B5EF4-FFF2-40B4-BE49-F238E27FC236}">
                <a16:creationId xmlns:a16="http://schemas.microsoft.com/office/drawing/2014/main" id="{6DBF4F0B-5DCC-4469-E030-4C7675D26D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01" t="3557"/>
          <a:stretch>
            <a:fillRect/>
          </a:stretch>
        </p:blipFill>
        <p:spPr>
          <a:xfrm>
            <a:off x="8112796" y="2680138"/>
            <a:ext cx="3241004" cy="340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39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>
                <a:lumMod val="46000"/>
              </a:srgbClr>
            </a:gs>
            <a:gs pos="100000">
              <a:schemeClr val="tx2">
                <a:lumMod val="47722"/>
              </a:schemeClr>
            </a:gs>
            <a:gs pos="45000">
              <a:schemeClr val="accent5">
                <a:lumMod val="22000"/>
              </a:schemeClr>
            </a:gs>
            <a:gs pos="85000">
              <a:schemeClr val="accent5">
                <a:lumMod val="13775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4D0BA558-BE36-CE98-C238-50D457E22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89" y="370702"/>
            <a:ext cx="2984730" cy="6116595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68146A21-989F-4F4A-83F1-14E16FFA6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100" y="370702"/>
            <a:ext cx="3012335" cy="611659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DFC1B4-DE04-15C6-C893-7AC7B7235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092" y="1334530"/>
            <a:ext cx="3939130" cy="119860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Seamless UI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6AE7CA0-EA32-21F3-A223-0E1304E37B29}"/>
              </a:ext>
            </a:extLst>
          </p:cNvPr>
          <p:cNvSpPr txBox="1">
            <a:spLocks/>
          </p:cNvSpPr>
          <p:nvPr/>
        </p:nvSpPr>
        <p:spPr>
          <a:xfrm>
            <a:off x="7256092" y="2533135"/>
            <a:ext cx="3939130" cy="1198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Detailed information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DBC72-7F48-71A9-2C75-F4512C5D936D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</p:spTree>
    <p:extLst>
      <p:ext uri="{BB962C8B-B14F-4D97-AF65-F5344CB8AC3E}">
        <p14:creationId xmlns:p14="http://schemas.microsoft.com/office/powerpoint/2010/main" val="284433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>
                <a:lumMod val="46000"/>
              </a:srgbClr>
            </a:gs>
            <a:gs pos="100000">
              <a:schemeClr val="tx2">
                <a:lumMod val="47722"/>
              </a:schemeClr>
            </a:gs>
            <a:gs pos="45000">
              <a:schemeClr val="accent5">
                <a:lumMod val="22000"/>
              </a:schemeClr>
            </a:gs>
            <a:gs pos="85000">
              <a:schemeClr val="accent5">
                <a:lumMod val="13775"/>
              </a:schemeClr>
            </a:gs>
          </a:gsLst>
          <a:lin ang="8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C4000-C180-E5C1-BCB9-B32AC450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s screenshot of a chat&#10;&#10;AI-generated content may be incorrect.">
            <a:extLst>
              <a:ext uri="{FF2B5EF4-FFF2-40B4-BE49-F238E27FC236}">
                <a16:creationId xmlns:a16="http://schemas.microsoft.com/office/drawing/2014/main" id="{C7434300-2366-663C-0FCD-06D3C274C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08" y="370701"/>
            <a:ext cx="2977538" cy="6116595"/>
          </a:xfrm>
          <a:prstGeom prst="rect">
            <a:avLst/>
          </a:prstGeom>
        </p:spPr>
      </p:pic>
      <p:pic>
        <p:nvPicPr>
          <p:cNvPr id="11" name="Picture 10" descr="A screenshot of a chat&#10;&#10;AI-generated content may be incorrect.">
            <a:extLst>
              <a:ext uri="{FF2B5EF4-FFF2-40B4-BE49-F238E27FC236}">
                <a16:creationId xmlns:a16="http://schemas.microsoft.com/office/drawing/2014/main" id="{68683DA1-B1F5-3D14-565B-400435078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293" y="370701"/>
            <a:ext cx="2991431" cy="61165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DA954A-92BC-8C42-E227-6162F0411859}"/>
              </a:ext>
            </a:extLst>
          </p:cNvPr>
          <p:cNvSpPr txBox="1">
            <a:spLocks/>
          </p:cNvSpPr>
          <p:nvPr/>
        </p:nvSpPr>
        <p:spPr>
          <a:xfrm>
            <a:off x="7256091" y="1427205"/>
            <a:ext cx="3939130" cy="1198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Nearby Hangouts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B1354B-2758-4BC8-4BDF-C21448FA5A19}"/>
              </a:ext>
            </a:extLst>
          </p:cNvPr>
          <p:cNvSpPr txBox="1">
            <a:spLocks/>
          </p:cNvSpPr>
          <p:nvPr/>
        </p:nvSpPr>
        <p:spPr>
          <a:xfrm>
            <a:off x="7256091" y="2714866"/>
            <a:ext cx="3939130" cy="502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Personalized-AI Assistant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BE8E9-2BFB-BFD1-FCCC-4D45C5883ED6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</p:spTree>
    <p:extLst>
      <p:ext uri="{BB962C8B-B14F-4D97-AF65-F5344CB8AC3E}">
        <p14:creationId xmlns:p14="http://schemas.microsoft.com/office/powerpoint/2010/main" val="333427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2ABD-A1C2-87C4-9127-2527CBC3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50">
                <a:latin typeface="Arial" panose="020B0604020202020204" pitchFamily="34" charset="0"/>
                <a:cs typeface="Arial" panose="020B0604020202020204" pitchFamily="34" charset="0"/>
              </a:rPr>
              <a:t>What Makes us Stand Out: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CBCF31-3F6C-EF5F-3258-0A6FAB33C9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320246"/>
              </p:ext>
            </p:extLst>
          </p:nvPr>
        </p:nvGraphicFramePr>
        <p:xfrm>
          <a:off x="835741" y="1831258"/>
          <a:ext cx="10515600" cy="37917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362848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30677990"/>
                    </a:ext>
                  </a:extLst>
                </a:gridCol>
              </a:tblGrid>
              <a:tr h="5901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spc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pc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platforms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545225"/>
                  </a:ext>
                </a:extLst>
              </a:tr>
              <a:tr h="3201586">
                <a:tc>
                  <a:txBody>
                    <a:bodyPr/>
                    <a:lstStyle/>
                    <a:p>
                      <a:r>
                        <a:rPr lang="en-US" sz="20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Specific Communities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Join people that graduated from your college or people that work at the same company as you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based postings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Individuals can make posts when they want to hang out with different people, not just companies running promotions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Just event postings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571120"/>
                  </a:ext>
                </a:extLst>
              </a:tr>
            </a:tbl>
          </a:graphicData>
        </a:graphic>
      </p:graphicFrame>
      <p:pic>
        <p:nvPicPr>
          <p:cNvPr id="6" name="Picture 5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E343B59F-E620-6576-6918-AC827EC5D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DBC788-2312-999E-9FFF-664399986F41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</p:spTree>
    <p:extLst>
      <p:ext uri="{BB962C8B-B14F-4D97-AF65-F5344CB8AC3E}">
        <p14:creationId xmlns:p14="http://schemas.microsoft.com/office/powerpoint/2010/main" val="1695015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F1AB-8697-072C-7C10-6EFF7EAF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Revenue Stream From B2C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88E43-E3E9-231E-13C5-CBF315E08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915"/>
            <a:ext cx="6201441" cy="4339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Customers will pay $12 a month to unlock premium features like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AI assistant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Unlimited access to communities</a:t>
            </a:r>
          </a:p>
          <a:p>
            <a:r>
              <a:rPr lang="en-US"/>
              <a:t>We expect 380,000 premium customers by year 5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D3B4782-1AF1-5FDA-6228-628B9722EA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6397682"/>
              </p:ext>
            </p:extLst>
          </p:nvPr>
        </p:nvGraphicFramePr>
        <p:xfrm>
          <a:off x="6558456" y="1840956"/>
          <a:ext cx="5332756" cy="5019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Picture 3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0226D064-E573-6B90-12B2-B504387688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E15A4B-5A24-E84C-3EAF-F99E9918ECC6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</p:spTree>
    <p:extLst>
      <p:ext uri="{BB962C8B-B14F-4D97-AF65-F5344CB8AC3E}">
        <p14:creationId xmlns:p14="http://schemas.microsoft.com/office/powerpoint/2010/main" val="4264945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3B891-2262-D8E1-621F-D7A42FAE7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Revenue Stream From B2B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A1F5A-1FA7-2D6C-C2B4-F022C0B4A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1884"/>
            <a:ext cx="5820697" cy="44250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Companies will purchase sponsored posts, promoting events like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Trivia night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Happy hour special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Holiday discounts</a:t>
            </a:r>
          </a:p>
          <a:p>
            <a:r>
              <a:rPr lang="en-US"/>
              <a:t>We expect $7,999,950 in revenue by year 5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0C6F48F-A6DC-4D40-AC60-E3B350E08021}"/>
              </a:ext>
              <a:ext uri="{147F2762-F138-4A5C-976F-8EAC2B608ADB}">
                <a16:predDERef xmlns:a16="http://schemas.microsoft.com/office/drawing/2014/main" pred="{54730B9D-606D-A5F8-AD9C-9BF130E23D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5215629"/>
              </p:ext>
            </p:extLst>
          </p:nvPr>
        </p:nvGraphicFramePr>
        <p:xfrm>
          <a:off x="6513032" y="1856559"/>
          <a:ext cx="5381380" cy="5007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4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D47AD849-4BFB-0626-4F68-D7D3EA062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188F3B-70E7-FFA4-0B51-16C023A17928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</p:spTree>
    <p:extLst>
      <p:ext uri="{BB962C8B-B14F-4D97-AF65-F5344CB8AC3E}">
        <p14:creationId xmlns:p14="http://schemas.microsoft.com/office/powerpoint/2010/main" val="28288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4E93-6B13-0370-FDEB-5EE08EA2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5B82-DE43-AD08-477C-95C9A898C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will engage with the platform</a:t>
            </a:r>
          </a:p>
          <a:p>
            <a:r>
              <a:rPr lang="en-US" dirty="0"/>
              <a:t>People will connect in real app through the app</a:t>
            </a:r>
          </a:p>
          <a:p>
            <a:r>
              <a:rPr lang="en-US" dirty="0"/>
              <a:t>A city by city launch can reach a target audience so it feels active and not empty.</a:t>
            </a:r>
          </a:p>
          <a:p>
            <a:r>
              <a:rPr lang="en-US" dirty="0"/>
              <a:t>People will keep coming back to the app</a:t>
            </a:r>
          </a:p>
          <a:p>
            <a:r>
              <a:rPr lang="en-US" dirty="0"/>
              <a:t>People will want to pay for the premium version</a:t>
            </a:r>
          </a:p>
          <a:p>
            <a:r>
              <a:rPr lang="en-US" dirty="0"/>
              <a:t>Businesses will want to advertise on our app</a:t>
            </a:r>
          </a:p>
        </p:txBody>
      </p:sp>
      <p:pic>
        <p:nvPicPr>
          <p:cNvPr id="4" name="Picture 3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59037AE5-0989-F07F-13D1-B9576BF35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7EEC76-54A8-2FC9-EA80-9D00F3BF6A5D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</p:spTree>
    <p:extLst>
      <p:ext uri="{BB962C8B-B14F-4D97-AF65-F5344CB8AC3E}">
        <p14:creationId xmlns:p14="http://schemas.microsoft.com/office/powerpoint/2010/main" val="2417527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8683F-55A9-72FC-A5C0-F37942F67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4535-9389-095E-25F2-AA0FED08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&amp; EXIT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7C069-A82F-CBAC-8408-ED9822368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96255" cy="4351338"/>
          </a:xfrm>
        </p:spPr>
        <p:txBody>
          <a:bodyPr>
            <a:normAutofit/>
          </a:bodyPr>
          <a:lstStyle/>
          <a:p>
            <a:r>
              <a:rPr lang="en-US" b="1" dirty="0"/>
              <a:t>Meta (Instagram)</a:t>
            </a:r>
            <a:r>
              <a:rPr lang="en-US" dirty="0"/>
              <a:t> </a:t>
            </a:r>
          </a:p>
          <a:p>
            <a:r>
              <a:rPr lang="en-US" b="1" dirty="0"/>
              <a:t>Snap</a:t>
            </a:r>
            <a:r>
              <a:rPr lang="en-US" dirty="0"/>
              <a:t> </a:t>
            </a:r>
          </a:p>
          <a:p>
            <a:r>
              <a:rPr lang="en-US" b="1" dirty="0"/>
              <a:t>Strava</a:t>
            </a:r>
            <a:r>
              <a:rPr lang="en-US" dirty="0"/>
              <a:t> </a:t>
            </a:r>
          </a:p>
          <a:p>
            <a:r>
              <a:rPr lang="en-US" b="1" dirty="0"/>
              <a:t>Eventbrite / Meetup</a:t>
            </a:r>
            <a:endParaRPr lang="en-US" dirty="0"/>
          </a:p>
        </p:txBody>
      </p:sp>
      <p:pic>
        <p:nvPicPr>
          <p:cNvPr id="5" name="Picture 4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375708E5-18B2-A1AF-1492-2723B4228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931254-E308-F9D9-7FC3-52E7C4479C8A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FE31C-B260-982A-5616-0E807591E89D}"/>
              </a:ext>
            </a:extLst>
          </p:cNvPr>
          <p:cNvSpPr txBox="1"/>
          <p:nvPr/>
        </p:nvSpPr>
        <p:spPr>
          <a:xfrm>
            <a:off x="5538953" y="1825625"/>
            <a:ext cx="63272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Target exit: </a:t>
            </a:r>
            <a:r>
              <a:rPr lang="en-US" sz="2800" b="1" dirty="0"/>
              <a:t>Years 4–6</a:t>
            </a:r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5–8x Revenue multiple</a:t>
            </a:r>
            <a:r>
              <a:rPr lang="en-US" sz="2800" dirty="0"/>
              <a:t> (consumer social SaaS)</a:t>
            </a:r>
          </a:p>
          <a:p>
            <a:endParaRPr lang="en-US" sz="2800" dirty="0"/>
          </a:p>
          <a:p>
            <a:r>
              <a:rPr lang="en-US" sz="2800" dirty="0"/>
              <a:t>At Year 5 projection (~$65M+ revenue):</a:t>
            </a:r>
          </a:p>
          <a:p>
            <a:r>
              <a:rPr lang="en-US" sz="2800" dirty="0"/>
              <a:t>→ </a:t>
            </a:r>
            <a:r>
              <a:rPr lang="en-US" sz="2800" b="1" dirty="0"/>
              <a:t>$325M – $520M valuation range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36953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208E-F8C5-60FD-D7FE-7BD9970C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Customer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2F2C1-2153-ADD6-D448-31CC4C4B8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met with two mentors that gave us valuable insights on how to move forward.</a:t>
            </a:r>
          </a:p>
          <a:p>
            <a:r>
              <a:rPr lang="en-US"/>
              <a:t>Showcased our app to around 20 individuals in our target audience</a:t>
            </a:r>
          </a:p>
          <a:p>
            <a:r>
              <a:rPr lang="en-US"/>
              <a:t>Everyone that we interviewed had positive reviews with app and expressed interest </a:t>
            </a:r>
          </a:p>
          <a:p>
            <a:endParaRPr lang="en-US"/>
          </a:p>
        </p:txBody>
      </p:sp>
      <p:pic>
        <p:nvPicPr>
          <p:cNvPr id="5" name="Picture 4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0C92E0D0-8F75-5330-DB76-C5E7288C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3F695A-5AE3-A97B-C496-B56079A9D6D2}"/>
              </a:ext>
            </a:extLst>
          </p:cNvPr>
          <p:cNvSpPr txBox="1"/>
          <p:nvPr/>
        </p:nvSpPr>
        <p:spPr>
          <a:xfrm>
            <a:off x="11090236" y="6406912"/>
            <a:ext cx="21966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circle co.</a:t>
            </a:r>
          </a:p>
        </p:txBody>
      </p:sp>
    </p:spTree>
    <p:extLst>
      <p:ext uri="{BB962C8B-B14F-4D97-AF65-F5344CB8AC3E}">
        <p14:creationId xmlns:p14="http://schemas.microsoft.com/office/powerpoint/2010/main" val="2493907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AB4133-CB59-2644-67A4-6695C8B0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39" y="87519"/>
            <a:ext cx="9343696" cy="6682961"/>
          </a:xfrm>
          <a:prstGeom prst="rect">
            <a:avLst/>
          </a:prstGeom>
        </p:spPr>
      </p:pic>
      <p:pic>
        <p:nvPicPr>
          <p:cNvPr id="4" name="Picture 3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ACB384E1-9F64-661F-150C-E9E8EF16E9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98" r="13245" b="-820"/>
          <a:stretch>
            <a:fillRect/>
          </a:stretch>
        </p:blipFill>
        <p:spPr>
          <a:xfrm>
            <a:off x="10572135" y="2526"/>
            <a:ext cx="1616432" cy="150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02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704B77-D9BB-FC4B-BC94-02C9D223DD98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409</Words>
  <Application>Microsoft Macintosh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Office Theme</vt:lpstr>
      <vt:lpstr>PowerPoint Presentation</vt:lpstr>
      <vt:lpstr>Identifying the Problem</vt:lpstr>
      <vt:lpstr>Our Target Market</vt:lpstr>
      <vt:lpstr>Introducing Circle</vt:lpstr>
      <vt:lpstr>Seamless UI</vt:lpstr>
      <vt:lpstr>PowerPoint Presentation</vt:lpstr>
      <vt:lpstr>What Makes us Stand Out:</vt:lpstr>
      <vt:lpstr>Revenue Stream From B2C</vt:lpstr>
      <vt:lpstr>Revenue Stream From B2B</vt:lpstr>
      <vt:lpstr>Critical Assumptions</vt:lpstr>
      <vt:lpstr>VALUATION &amp; EXIT</vt:lpstr>
      <vt:lpstr>Customer Feedback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Zhang</dc:creator>
  <cp:lastModifiedBy>will Zhang</cp:lastModifiedBy>
  <cp:revision>3</cp:revision>
  <dcterms:created xsi:type="dcterms:W3CDTF">2026-02-13T16:14:15Z</dcterms:created>
  <dcterms:modified xsi:type="dcterms:W3CDTF">2026-02-13T19:32:25Z</dcterms:modified>
</cp:coreProperties>
</file>