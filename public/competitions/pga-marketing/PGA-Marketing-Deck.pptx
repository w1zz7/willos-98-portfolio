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310" r:id="rId2"/>
    <p:sldId id="313" r:id="rId3"/>
    <p:sldId id="318" r:id="rId4"/>
    <p:sldId id="323" r:id="rId5"/>
    <p:sldId id="329" r:id="rId6"/>
    <p:sldId id="335" r:id="rId7"/>
    <p:sldId id="333" r:id="rId8"/>
    <p:sldId id="346" r:id="rId9"/>
    <p:sldId id="349" r:id="rId10"/>
    <p:sldId id="339" r:id="rId11"/>
    <p:sldId id="348" r:id="rId12"/>
    <p:sldId id="351" r:id="rId13"/>
    <p:sldId id="345" r:id="rId14"/>
    <p:sldId id="30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79A17-78F9-DB4F-9015-5B759E0096A2}" v="15" dt="2026-03-06T16:58:15.445"/>
    <p1510:client id="{78EBB70B-E3EC-FA40-AFA1-0B2A877F2D3F}" v="653" dt="2026-03-06T19:23:07.886"/>
    <p1510:client id="{7F48F2ED-B806-324F-ADFF-A35CD9A3E2B0}" v="24" dt="2026-03-06T16:47:59.584"/>
    <p1510:client id="{B5396943-448D-648A-6D4F-704CE19D4B29}" v="63" dt="2026-03-06T16:37:55.135"/>
    <p1510:client id="{B5A73367-5B3B-5DDB-4D51-3BA631AB6F3E}" v="235" dt="2026-03-06T17:01:06.896"/>
    <p1510:client id="{D9FF72E7-D4C6-B5BF-834F-796BF753476F}" v="14" dt="2026-03-06T19:15:46.074"/>
    <p1510:client id="{DADAACED-6BEE-C981-4127-3F1C7E45626E}" v="34" dt="2026-03-06T17:41:06.463"/>
    <p1510:client id="{FD21B9F6-D4DA-E9F9-40B8-99A015742134}" v="162" dt="2026-03-06T19:10:11.1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27"/>
    <p:restoredTop sz="94707"/>
  </p:normalViewPr>
  <p:slideViewPr>
    <p:cSldViewPr snapToGrid="0">
      <p:cViewPr varScale="1">
        <p:scale>
          <a:sx n="126" d="100"/>
          <a:sy n="126" d="100"/>
        </p:scale>
        <p:origin x="22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rexel0-my.sharepoint.com/personal/wz363_drexel_edu/Documents/PGA%20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rexel0-my.sharepoint.com/personal/wz363_drexel_edu/Documents/PGA%20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rexel0-my.sharepoint.com/personal/wz363_drexel_edu/Documents/PGA%20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10-Year Revenue by Segment ($)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'Chart Data'!$A$3</c:f>
              <c:strCache>
                <c:ptCount val="1"/>
                <c:pt idx="0">
                  <c:v>Platform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'Chart Data'!$B$2:$K$2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'Chart Data'!$B$3:$K$3</c:f>
              <c:numCache>
                <c:formatCode>General</c:formatCode>
                <c:ptCount val="10"/>
                <c:pt idx="0">
                  <c:v>265097.44799999992</c:v>
                </c:pt>
                <c:pt idx="1">
                  <c:v>460846.94040000002</c:v>
                </c:pt>
                <c:pt idx="2">
                  <c:v>768382.19377919985</c:v>
                </c:pt>
                <c:pt idx="3">
                  <c:v>1000032.1884907201</c:v>
                </c:pt>
                <c:pt idx="4">
                  <c:v>1352494.438289074</c:v>
                </c:pt>
                <c:pt idx="5">
                  <c:v>1503162.3309637271</c:v>
                </c:pt>
                <c:pt idx="6">
                  <c:v>1665684.0003563988</c:v>
                </c:pt>
                <c:pt idx="7">
                  <c:v>1832755.8099915632</c:v>
                </c:pt>
                <c:pt idx="8">
                  <c:v>1933170.5677025933</c:v>
                </c:pt>
                <c:pt idx="9">
                  <c:v>2066507.0118649029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6C-B840-AD87-E35DB032684E}"/>
            </c:ext>
          </c:extLst>
        </c:ser>
        <c:ser>
          <c:idx val="1"/>
          <c:order val="1"/>
          <c:tx>
            <c:strRef>
              <c:f>'Chart Data'!$A$4</c:f>
              <c:strCache>
                <c:ptCount val="1"/>
                <c:pt idx="0">
                  <c:v>Creator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'Chart Data'!$B$2:$K$2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'Chart Data'!$B$4:$K$4</c:f>
              <c:numCache>
                <c:formatCode>General</c:formatCode>
                <c:ptCount val="10"/>
                <c:pt idx="0">
                  <c:v>979.19999999999993</c:v>
                </c:pt>
                <c:pt idx="1">
                  <c:v>1815.4368000000002</c:v>
                </c:pt>
                <c:pt idx="2">
                  <c:v>63116.499839999997</c:v>
                </c:pt>
                <c:pt idx="3">
                  <c:v>118065.99345792001</c:v>
                </c:pt>
                <c:pt idx="4">
                  <c:v>205510.49113375999</c:v>
                </c:pt>
                <c:pt idx="5">
                  <c:v>281243.38645455008</c:v>
                </c:pt>
                <c:pt idx="6">
                  <c:v>367015.2960525672</c:v>
                </c:pt>
                <c:pt idx="7">
                  <c:v>462827.9011786562</c:v>
                </c:pt>
                <c:pt idx="8">
                  <c:v>552434.86459312437</c:v>
                </c:pt>
                <c:pt idx="9">
                  <c:v>708943.43731123919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6C-B840-AD87-E35DB032684E}"/>
            </c:ext>
          </c:extLst>
        </c:ser>
        <c:ser>
          <c:idx val="2"/>
          <c:order val="2"/>
          <c:tx>
            <c:strRef>
              <c:f>'Chart Data'!$A$5</c:f>
              <c:strCache>
                <c:ptCount val="1"/>
                <c:pt idx="0">
                  <c:v>Venue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'Chart Data'!$B$2:$K$2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'Chart Data'!$B$5:$K$5</c:f>
              <c:numCache>
                <c:formatCode>General</c:formatCode>
                <c:ptCount val="10"/>
                <c:pt idx="0">
                  <c:v>131224</c:v>
                </c:pt>
                <c:pt idx="1">
                  <c:v>196891.08000000002</c:v>
                </c:pt>
                <c:pt idx="2">
                  <c:v>328246.35399999999</c:v>
                </c:pt>
                <c:pt idx="3">
                  <c:v>394012.49354399997</c:v>
                </c:pt>
                <c:pt idx="4">
                  <c:v>525510.49113375996</c:v>
                </c:pt>
                <c:pt idx="5">
                  <c:v>525675.80586777278</c:v>
                </c:pt>
                <c:pt idx="6">
                  <c:v>525846.080043806</c:v>
                </c:pt>
                <c:pt idx="7">
                  <c:v>526021.46244512009</c:v>
                </c:pt>
                <c:pt idx="8">
                  <c:v>526202.10631847382</c:v>
                </c:pt>
                <c:pt idx="9">
                  <c:v>526388.16950802796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6C-B840-AD87-E35DB032684E}"/>
            </c:ext>
          </c:extLst>
        </c:ser>
        <c:ser>
          <c:idx val="3"/>
          <c:order val="3"/>
          <c:tx>
            <c:strRef>
              <c:f>'Chart Data'!$A$6</c:f>
              <c:strCache>
                <c:ptCount val="1"/>
                <c:pt idx="0">
                  <c:v>Corporate</c:v>
                </c:pt>
              </c:strCache>
            </c:strRef>
          </c:tx>
          <c:spPr>
            <a:solidFill>
              <a:schemeClr val="accent4"/>
            </a:solidFill>
            <a:ln w="12700">
              <a:noFill/>
            </a:ln>
            <a:effectLst/>
          </c:spPr>
          <c:cat>
            <c:strRef>
              <c:f>'Chart Data'!$B$2:$K$2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'Chart Data'!$B$6:$K$6</c:f>
              <c:numCache>
                <c:formatCode>General</c:formatCode>
                <c:ptCount val="10"/>
                <c:pt idx="0">
                  <c:v>187500</c:v>
                </c:pt>
                <c:pt idx="1">
                  <c:v>546000</c:v>
                </c:pt>
                <c:pt idx="2">
                  <c:v>910000</c:v>
                </c:pt>
                <c:pt idx="3">
                  <c:v>1365000</c:v>
                </c:pt>
                <c:pt idx="4">
                  <c:v>2047500</c:v>
                </c:pt>
                <c:pt idx="5">
                  <c:v>2366000</c:v>
                </c:pt>
                <c:pt idx="6">
                  <c:v>2639000</c:v>
                </c:pt>
                <c:pt idx="7">
                  <c:v>2957500</c:v>
                </c:pt>
                <c:pt idx="8">
                  <c:v>3276000</c:v>
                </c:pt>
                <c:pt idx="9">
                  <c:v>3640000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A6C-B840-AD87-E35DB03268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26480224"/>
        <c:axId val="626481936"/>
      </c:areaChart>
      <c:catAx>
        <c:axId val="626480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6481936"/>
        <c:crosses val="autoZero"/>
        <c:auto val="1"/>
        <c:lblAlgn val="ctr"/>
        <c:lblOffset val="100"/>
        <c:noMultiLvlLbl val="0"/>
      </c:catAx>
      <c:valAx>
        <c:axId val="626481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64802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/ EBITDA / Free Cash Flow ($)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Data'!$A$16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'Chart Data'!$B$15:$K$15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'Chart Data'!$B$16:$K$16</c:f>
              <c:numCache>
                <c:formatCode>General</c:formatCode>
                <c:ptCount val="10"/>
                <c:pt idx="0">
                  <c:v>584800.64799999993</c:v>
                </c:pt>
                <c:pt idx="1">
                  <c:v>1205553.4572000001</c:v>
                </c:pt>
                <c:pt idx="2">
                  <c:v>2069745.0476191998</c:v>
                </c:pt>
                <c:pt idx="3">
                  <c:v>2877110.6754926401</c:v>
                </c:pt>
                <c:pt idx="4">
                  <c:v>4131015.4205565937</c:v>
                </c:pt>
                <c:pt idx="5">
                  <c:v>4676081.5232860502</c:v>
                </c:pt>
                <c:pt idx="6">
                  <c:v>5197545.3764527719</c:v>
                </c:pt>
                <c:pt idx="7">
                  <c:v>5779105.1736153392</c:v>
                </c:pt>
                <c:pt idx="8">
                  <c:v>6287807.5386141911</c:v>
                </c:pt>
                <c:pt idx="9">
                  <c:v>6941838.6186841698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64-472D-BBC2-342AB376158D}"/>
            </c:ext>
          </c:extLst>
        </c:ser>
        <c:ser>
          <c:idx val="1"/>
          <c:order val="1"/>
          <c:tx>
            <c:strRef>
              <c:f>'Chart Data'!$A$17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'Chart Data'!$B$15:$K$15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'Chart Data'!$B$17:$K$17</c:f>
              <c:numCache>
                <c:formatCode>General</c:formatCode>
                <c:ptCount val="10"/>
                <c:pt idx="0">
                  <c:v>-715646.60496000014</c:v>
                </c:pt>
                <c:pt idx="1">
                  <c:v>-651336.82394399995</c:v>
                </c:pt>
                <c:pt idx="2">
                  <c:v>-219866.69470918411</c:v>
                </c:pt>
                <c:pt idx="3">
                  <c:v>-5610.3400388127193</c:v>
                </c:pt>
                <c:pt idx="4">
                  <c:v>652175.48733853921</c:v>
                </c:pt>
                <c:pt idx="5">
                  <c:v>911168.83267372777</c:v>
                </c:pt>
                <c:pt idx="6">
                  <c:v>954215.76255930611</c:v>
                </c:pt>
                <c:pt idx="7">
                  <c:v>1235087.3075123539</c:v>
                </c:pt>
                <c:pt idx="8">
                  <c:v>1252885.2273745197</c:v>
                </c:pt>
                <c:pt idx="9">
                  <c:v>1609199.4408494718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64-472D-BBC2-342AB376158D}"/>
            </c:ext>
          </c:extLst>
        </c:ser>
        <c:ser>
          <c:idx val="2"/>
          <c:order val="2"/>
          <c:tx>
            <c:strRef>
              <c:f>'Chart Data'!$A$18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'Chart Data'!$B$15:$K$15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'Chart Data'!$B$18:$K$18</c:f>
              <c:numCache>
                <c:formatCode>General</c:formatCode>
                <c:ptCount val="10"/>
                <c:pt idx="0">
                  <c:v>-791670.68920000014</c:v>
                </c:pt>
                <c:pt idx="1">
                  <c:v>-761274.72154000006</c:v>
                </c:pt>
                <c:pt idx="2">
                  <c:v>-392489.27432368009</c:v>
                </c:pt>
                <c:pt idx="3">
                  <c:v>-214055.12404331996</c:v>
                </c:pt>
                <c:pt idx="4">
                  <c:v>213251.08052513297</c:v>
                </c:pt>
                <c:pt idx="5">
                  <c:v>441037.87154728209</c:v>
                </c:pt>
                <c:pt idx="6">
                  <c:v>453049.03516689909</c:v>
                </c:pt>
                <c:pt idx="7">
                  <c:v>634178.72698260809</c:v>
                </c:pt>
                <c:pt idx="8">
                  <c:v>631735.91093987843</c:v>
                </c:pt>
                <c:pt idx="9">
                  <c:v>859548.95293742849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64-472D-BBC2-342AB3761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32792847"/>
        <c:axId val="104829856"/>
      </c:barChart>
      <c:catAx>
        <c:axId val="1232792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829856"/>
        <c:crosses val="autoZero"/>
        <c:auto val="1"/>
        <c:lblAlgn val="ctr"/>
        <c:lblOffset val="100"/>
        <c:noMultiLvlLbl val="0"/>
      </c:catAx>
      <c:valAx>
        <c:axId val="104829856"/>
        <c:scaling>
          <c:orientation val="minMax"/>
        </c:scaling>
        <c:delete val="0"/>
        <c:axPos val="l"/>
        <c:majorGridlines>
          <c:spPr>
            <a:ln w="19050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2792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Debt Outstanding ($)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'LBO Analysis'!$A$38</c:f>
              <c:strCache>
                <c:ptCount val="1"/>
                <c:pt idx="0">
                  <c:v>Net Debt / EBITDA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'LBO Analysis'!$B$38:$G$38</c:f>
              <c:numCache>
                <c:formatCode>"$"#,##0;\("$"#,##0\);\-</c:formatCode>
                <c:ptCount val="6"/>
                <c:pt idx="0" formatCode="&quot;$&quot;#,##0">
                  <c:v>3358703.7597934771</c:v>
                </c:pt>
                <c:pt idx="1">
                  <c:v>3135517.7255117865</c:v>
                </c:pt>
                <c:pt idx="2">
                  <c:v>2893917.4752559182</c:v>
                </c:pt>
                <c:pt idx="3">
                  <c:v>2550388.1805126453</c:v>
                </c:pt>
                <c:pt idx="4">
                  <c:v>2195476.6743964651</c:v>
                </c:pt>
                <c:pt idx="5">
                  <c:v>1710531.5209723089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98-4B9C-BFEF-18E07C284D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65526351"/>
        <c:axId val="764093488"/>
      </c:barChart>
      <c:catAx>
        <c:axId val="176552635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093488"/>
        <c:crosses val="autoZero"/>
        <c:auto val="1"/>
        <c:lblAlgn val="ctr"/>
        <c:lblOffset val="100"/>
        <c:noMultiLvlLbl val="0"/>
      </c:catAx>
      <c:valAx>
        <c:axId val="764093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5526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6C3C-2B81-B183-CF57-B244C8BA8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01C80-04E2-4D9F-33BF-288DB5CF9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8A1F1-C9C4-8DE6-1573-C112AF70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A2AED-1B97-2722-5525-BB82AD81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C4268-F11F-9067-58EE-AB491412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61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76FC1-93F3-95FC-D925-37C60105C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D8C4-5890-6EAF-09B5-F40197268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8E81E-CF66-6E8D-48F1-0CF0D524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B125C-1A27-ABD6-59BA-A98D96B0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E6ADD-0AEF-A4CA-9B5B-5BACB12F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2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6C32D-2DB1-3663-56DD-13D514E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3B721-04C6-862C-A095-98B985EDD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7A2E9-C0B8-642C-C6C9-8630BE12A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528BA-C2C3-C706-EC5D-558A57E3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21C15-17C8-B75A-97DB-239EB529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3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EFDE8-648E-D744-4BF8-BAE02A56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CD746-D249-7B7D-4C13-DE3E8721EC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12726-BC48-2F41-BD21-34F6F5534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24062-7020-56FD-B7D9-0BDDD2BFC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BD742-93B9-4D25-FD20-A734F63B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6D291-82FB-2FE2-D584-09B10482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02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77AF-FCE4-ED7B-32B6-A229EF78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0C390-9451-9C58-9398-932544953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FC7B7-261D-CC28-10C5-D3B67F73C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2EFA9-3A27-D229-6A00-C17C49B7E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073017-79B1-2C2D-759A-9B4707E2B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D54B3-3F9A-DED6-E833-8005657E1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BA62D-D936-104C-9A64-1D8D96526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DC124B-2D9D-977C-720C-6DB67A8B3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3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23EE-79B4-D0E5-05BD-46C88A02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72EB2-25BA-115D-8D31-4D1353EA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14ED7-A642-94FF-B7A1-CAB97140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DA54D-E194-C062-93B0-D0CF6B2C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5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9316E-6654-C283-71E2-B3D022D2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285B6-890C-E0D0-A24F-C6F2DFFB7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8F9E0-AF95-58AC-A786-8918CF3B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6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F3F2-D907-0F5E-3935-E940111CD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F1FB7-0EBB-8D4E-3B2E-DB298CB35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74E2E-ED97-86A0-B95E-2F1B1B02E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BFC4A-60BC-1073-AFC5-A4972D687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E79D4-CDD4-8446-6EF3-67AE34D7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25B7D-C6F6-F943-39D7-D6A31198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6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2CAF-54F3-9404-7B73-345CB871B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99CE45-98F7-87F1-D0E4-DE7F07C0A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B0C2D-A5F2-AB61-4CDA-A201C5EBE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36F58-70DE-8BDC-66DD-FDB3E003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09FE5-7107-B022-6B43-B348AB6D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4B9E0-3AA0-BF8A-788C-F96FB336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0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5B0A5-A22D-0B0A-B9EE-79EA86A30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C82E3-ABE2-81C2-DA75-CAF66F81D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5E3D6-6B65-D4F3-45DE-B9E1554C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21711-9905-1FFD-1282-0C63D97E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5D22C-23A6-D5D0-1CF5-0F438735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5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76FD00-81DE-BDA5-3F86-E96851BA7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6F2FB-4487-92E7-87FE-8266E3777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7AF49-EA95-744E-021C-E086FD6D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0F353-320A-C767-732C-EF2D255E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BE49E-1D3E-AECA-1DA5-DDCC653D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0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872248-BDBD-986E-3F53-7325C34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03D04-211D-3201-B26C-9D6640687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44A38-CBFF-6DD5-06E5-311E45F8B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B4330-298F-044B-8E48-0ADA6C4D6B2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3494B-86C0-9647-12BD-5506EE70C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B7147-E647-7A72-4DB9-280348F51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398BD-2365-3D4D-AF4D-3EDFB7067BF4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BottomAccent"/>
          <p:cNvSpPr/>
          <p:nvPr/>
        </p:nvSpPr>
        <p:spPr>
          <a:xfrm>
            <a:off x="0" y="6812280"/>
            <a:ext cx="12192000" cy="4572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7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05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1F3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1F3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1F3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F3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F3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F36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F36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F36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F36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1A1F36"/>
          </a:solidFill>
        </a:defRPr>
      </a:defPPr>
      <a:lvl1pPr marL="0" algn="l" defTabSz="914400" rtl="0" eaLnBrk="1" latinLnBrk="0" hangingPunct="1">
        <a:defRPr sz="1800" kern="1200">
          <a:solidFill>
            <a:srgbClr val="1A1F36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1A1F36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1A1F36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1A1F36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1A1F36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1A1F36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1A1F36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1A1F36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1A1F36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ivider"/>
          <p:cNvSpPr/>
          <p:nvPr/>
        </p:nvSpPr>
        <p:spPr>
          <a:xfrm>
            <a:off x="609600" y="2590800"/>
            <a:ext cx="3657600" cy="22860"/>
          </a:xfrm>
          <a:prstGeom prst="rect">
            <a:avLst/>
          </a:prstGeom>
          <a:solidFill>
            <a:srgbClr val="0050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609600" y="152400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b"/>
          <a:lstStyle/>
          <a:p>
            <a:pPr algn="l">
              <a:buNone/>
            </a:pPr>
            <a:r>
              <a:rPr lang="en-US" sz="3600">
                <a:solidFill>
                  <a:srgbClr val="0050AA"/>
                </a:solidFill>
                <a:latin typeface="Helvetica Neue"/>
              </a:rPr>
              <a:t>A Strategy to Make It Visible.</a:t>
            </a:r>
          </a:p>
        </p:txBody>
      </p:sp>
      <p:sp>
        <p:nvSpPr>
          <p:cNvPr id="5" name="Sub"/>
          <p:cNvSpPr txBox="1"/>
          <p:nvPr/>
        </p:nvSpPr>
        <p:spPr>
          <a:xfrm>
            <a:off x="609600" y="2743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800">
                <a:solidFill>
                  <a:srgbClr val="6B7280"/>
                </a:solidFill>
                <a:latin typeface="Calibri"/>
              </a:rPr>
              <a:t>Marketing &amp; Communications Strategy  |  Philadelphia PGA Section</a:t>
            </a:r>
            <a:br>
              <a:rPr lang="en-US" sz="1800">
                <a:solidFill>
                  <a:srgbClr val="6B7280"/>
                </a:solidFill>
                <a:latin typeface="Calibri"/>
              </a:rPr>
            </a:br>
            <a:br>
              <a:rPr lang="en-US" sz="1800">
                <a:solidFill>
                  <a:srgbClr val="6B7280"/>
                </a:solidFill>
                <a:latin typeface="Calibri"/>
              </a:rPr>
            </a:br>
            <a:r>
              <a:rPr lang="en-US" sz="1800">
                <a:solidFill>
                  <a:srgbClr val="6B7280"/>
                </a:solidFill>
                <a:latin typeface="Calibri"/>
              </a:rPr>
              <a:t>Will Zhang, Will Walker, Kyle Chen, Aaisha Memon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09600" y="60960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b"/>
          <a:lstStyle/>
          <a:p>
            <a:pPr algn="l">
              <a:buNone/>
            </a:pPr>
            <a:r>
              <a:rPr lang="en-US" sz="1200">
                <a:solidFill>
                  <a:srgbClr val="9CA3AF"/>
                </a:solidFill>
                <a:latin typeface="Calibri"/>
              </a:rPr>
              <a:t>2026 Marketing Crisis Challenge  |  Drexel LeBow College of Business</a:t>
            </a: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833F9BF3-C0F6-BCAC-F70A-5E4FE86C2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2" y="1974871"/>
            <a:ext cx="3422993" cy="290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6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"/>
          <p:cNvSpPr txBox="1"/>
          <p:nvPr/>
        </p:nvSpPr>
        <p:spPr>
          <a:xfrm>
            <a:off x="609600" y="4572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1400" b="1">
                <a:solidFill>
                  <a:srgbClr val="0050AA"/>
                </a:solidFill>
                <a:latin typeface="Calibri"/>
              </a:rPr>
              <a:t>THE KEY INSIGHT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600" y="1143000"/>
            <a:ext cx="109728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3600"/>
              </a:lnSpc>
            </a:pPr>
            <a:r>
              <a:rPr lang="en-US" sz="2800" b="1">
                <a:solidFill>
                  <a:srgbClr val="00205B"/>
                </a:solidFill>
                <a:latin typeface="Helvetica Neue"/>
              </a:rPr>
              <a:t>2 Million rounds managed. 900+ pros. 100K golfers influenced.</a:t>
            </a:r>
          </a:p>
          <a:p>
            <a:pPr>
              <a:spcBef>
                <a:spcPts val="600"/>
              </a:spcBef>
            </a:pP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</a:rPr>
              <a:t>The product is known. The producer is invisible. That is the problem.</a:t>
            </a:r>
          </a:p>
        </p:txBody>
      </p:sp>
      <p:sp>
        <p:nvSpPr>
          <p:cNvPr id="4" name="Div"/>
          <p:cNvSpPr/>
          <p:nvPr/>
        </p:nvSpPr>
        <p:spPr>
          <a:xfrm>
            <a:off x="609600" y="2743200"/>
            <a:ext cx="3048000" cy="22860"/>
          </a:xfrm>
          <a:prstGeom prst="rect">
            <a:avLst/>
          </a:prstGeom>
          <a:solidFill>
            <a:srgbClr val="E8EDF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609600" y="297180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285750" indent="-285750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4B5563"/>
                </a:solidFill>
                <a:latin typeface="Calibri"/>
              </a:rPr>
              <a:t>The Philadelphia PGA Section is the largest professional golf organization in this region which runs </a:t>
            </a:r>
            <a:endParaRPr lang="en-US" sz="2000">
              <a:ea typeface="Calibri" panose="02110004020202020204"/>
              <a:cs typeface="Calibri" panose="02110004020202020204"/>
            </a:endParaRPr>
          </a:p>
          <a:p>
            <a:pPr marL="742950" lvl="1" indent="-285750">
              <a:lnSpc>
                <a:spcPts val="2600"/>
              </a:lnSpc>
              <a:buFont typeface="Courier New"/>
              <a:buChar char="o"/>
            </a:pPr>
            <a:r>
              <a:rPr lang="en-US" sz="2000">
                <a:solidFill>
                  <a:srgbClr val="4B5563"/>
                </a:solidFill>
                <a:latin typeface="Calibri"/>
              </a:rPr>
              <a:t>Premier Junior Tour</a:t>
            </a:r>
            <a:endParaRPr lang="en-US" sz="2000">
              <a:solidFill>
                <a:srgbClr val="00205B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ts val="2600"/>
              </a:lnSpc>
              <a:buFont typeface="Courier New"/>
              <a:buChar char="o"/>
            </a:pPr>
            <a:r>
              <a:rPr lang="en-US" sz="2000">
                <a:solidFill>
                  <a:srgbClr val="4B5563"/>
                </a:solidFill>
                <a:latin typeface="Calibri"/>
              </a:rPr>
              <a:t>300+ facilities across four states</a:t>
            </a:r>
            <a:endParaRPr lang="en-US" sz="2000">
              <a:solidFill>
                <a:srgbClr val="00205B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ts val="2600"/>
              </a:lnSpc>
              <a:buFont typeface="Courier New"/>
              <a:buChar char="o"/>
            </a:pPr>
            <a:r>
              <a:rPr lang="en-US" sz="2000">
                <a:solidFill>
                  <a:srgbClr val="4B5563"/>
                </a:solidFill>
                <a:latin typeface="Calibri"/>
              </a:rPr>
              <a:t>Generates $200M+ in regional golf spending</a:t>
            </a:r>
            <a:endParaRPr lang="en-US" sz="2000">
              <a:solidFill>
                <a:srgbClr val="00205B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endParaRPr lang="en-US" sz="2000" b="1">
              <a:solidFill>
                <a:srgbClr val="00205B"/>
              </a:solidFill>
              <a:ea typeface="Calibri" panose="02110004020202020204"/>
              <a:cs typeface="Calibri" panose="02110004020202020204"/>
            </a:endParaRP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51E3168D-0AAA-E7CA-4E58-E0747DF54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595" y="0"/>
            <a:ext cx="1503404" cy="127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27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1400" b="1">
                <a:solidFill>
                  <a:srgbClr val="0050AA"/>
                </a:solidFill>
                <a:latin typeface="Calibri"/>
              </a:rPr>
              <a:t>THE CHALLENGE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2800" b="1">
                <a:solidFill>
                  <a:srgbClr val="00205B"/>
                </a:solidFill>
                <a:latin typeface="Helvetica Neue"/>
              </a:rPr>
              <a:t>A Reinforcing Cycle of Invisibility</a:t>
            </a:r>
          </a:p>
        </p:txBody>
      </p:sp>
      <p:sp>
        <p:nvSpPr>
          <p:cNvPr id="10" name="Acc0"/>
          <p:cNvSpPr/>
          <p:nvPr/>
        </p:nvSpPr>
        <p:spPr>
          <a:xfrm>
            <a:off x="609600" y="1371600"/>
            <a:ext cx="54864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0"/>
          <p:cNvSpPr/>
          <p:nvPr/>
        </p:nvSpPr>
        <p:spPr>
          <a:xfrm>
            <a:off x="609600" y="1402080"/>
            <a:ext cx="5486400" cy="210312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en-US" sz="1600" b="1">
                <a:solidFill>
                  <a:srgbClr val="0050AA"/>
                </a:solidFill>
                <a:latin typeface="Calibri"/>
              </a:rPr>
              <a:t>01  BRAND CONFUSION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400" b="1">
                <a:solidFill>
                  <a:srgbClr val="00205B"/>
                </a:solidFill>
                <a:latin typeface="Helvetica Neue"/>
              </a:rPr>
              <a:t>“PGA” = the Tour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000">
                <a:solidFill>
                  <a:srgbClr val="4B5563"/>
                </a:solidFill>
                <a:latin typeface="Calibri"/>
              </a:rPr>
              <a:t>Three letters, four organizations. Consumers default to the one with the TV contract.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Acc1"/>
          <p:cNvSpPr/>
          <p:nvPr/>
        </p:nvSpPr>
        <p:spPr>
          <a:xfrm>
            <a:off x="6324600" y="1371600"/>
            <a:ext cx="54864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1"/>
          <p:cNvSpPr/>
          <p:nvPr/>
        </p:nvSpPr>
        <p:spPr>
          <a:xfrm>
            <a:off x="6324600" y="1402080"/>
            <a:ext cx="5486400" cy="210312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en-US" b="1">
                <a:solidFill>
                  <a:srgbClr val="0050AA"/>
                </a:solidFill>
                <a:latin typeface="Calibri"/>
              </a:rPr>
              <a:t>02  INVISIBLE PRODUCER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800" b="1">
                <a:solidFill>
                  <a:srgbClr val="00205B"/>
                </a:solidFill>
                <a:latin typeface="Helvetica Neue"/>
              </a:rPr>
              <a:t>Programs known, org not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000">
                <a:solidFill>
                  <a:srgbClr val="4B5563"/>
                </a:solidFill>
                <a:latin typeface="Calibri"/>
              </a:rPr>
              <a:t>Junior Tour has high awareness. The Section behind it has almost none. No credit, no loyalty.</a:t>
            </a:r>
          </a:p>
        </p:txBody>
      </p:sp>
      <p:sp>
        <p:nvSpPr>
          <p:cNvPr id="12" name="Acc2"/>
          <p:cNvSpPr/>
          <p:nvPr/>
        </p:nvSpPr>
        <p:spPr>
          <a:xfrm>
            <a:off x="609600" y="3733800"/>
            <a:ext cx="54864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2"/>
          <p:cNvSpPr/>
          <p:nvPr/>
        </p:nvSpPr>
        <p:spPr>
          <a:xfrm>
            <a:off x="609600" y="3764280"/>
            <a:ext cx="5486400" cy="210312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en-US" b="1">
                <a:solidFill>
                  <a:srgbClr val="0050AA"/>
                </a:solidFill>
                <a:latin typeface="Calibri"/>
              </a:rPr>
              <a:t>03  WRONG VOICE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800" b="1">
                <a:solidFill>
                  <a:srgbClr val="00205B"/>
                </a:solidFill>
                <a:latin typeface="Helvetica Neue"/>
              </a:rPr>
              <a:t>Speaks like an institution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000">
                <a:solidFill>
                  <a:srgbClr val="4B5563"/>
                </a:solidFill>
                <a:latin typeface="Calibri"/>
              </a:rPr>
              <a:t>Content is formal and static. Does not tell human stories or meet audiences where they are.</a:t>
            </a:r>
          </a:p>
        </p:txBody>
      </p:sp>
      <p:sp>
        <p:nvSpPr>
          <p:cNvPr id="13" name="Acc3"/>
          <p:cNvSpPr/>
          <p:nvPr/>
        </p:nvSpPr>
        <p:spPr>
          <a:xfrm>
            <a:off x="6324600" y="3733800"/>
            <a:ext cx="54864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Card3"/>
          <p:cNvSpPr/>
          <p:nvPr/>
        </p:nvSpPr>
        <p:spPr>
          <a:xfrm>
            <a:off x="6324600" y="3764280"/>
            <a:ext cx="5486400" cy="210312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en-US" b="1">
                <a:solidFill>
                  <a:srgbClr val="0050AA"/>
                </a:solidFill>
                <a:latin typeface="Calibri"/>
              </a:rPr>
              <a:t>04  REVENUE AT RISK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800" b="1">
                <a:solidFill>
                  <a:srgbClr val="00205B"/>
                </a:solidFill>
                <a:latin typeface="Helvetica Neue"/>
              </a:rPr>
              <a:t>No brand = no pipeline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000">
                <a:solidFill>
                  <a:srgbClr val="4B5563"/>
                </a:solidFill>
                <a:latin typeface="Calibri"/>
              </a:rPr>
              <a:t>Sponsors and donors fund brands they can find. Without visibility, the revenue model stays fragile.</a:t>
            </a: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B5A8FC10-71D1-297F-BCD9-A1A132097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595" y="0"/>
            <a:ext cx="1503404" cy="127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53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1"/>
          <p:cNvSpPr/>
          <p:nvPr/>
        </p:nvSpPr>
        <p:spPr>
          <a:xfrm>
            <a:off x="3048000" y="2057400"/>
            <a:ext cx="6096000" cy="22860"/>
          </a:xfrm>
          <a:prstGeom prst="rect">
            <a:avLst/>
          </a:prstGeom>
          <a:solidFill>
            <a:srgbClr val="E8EDF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Main"/>
          <p:cNvSpPr txBox="1"/>
          <p:nvPr/>
        </p:nvSpPr>
        <p:spPr>
          <a:xfrm>
            <a:off x="1524000" y="2286000"/>
            <a:ext cx="9144000" cy="13716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3200" b="1" dirty="0">
                <a:solidFill>
                  <a:srgbClr val="00205B"/>
                </a:solidFill>
                <a:latin typeface="Helvetica Neue"/>
              </a:rPr>
              <a:t>The Tour crowns champions.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3200" dirty="0">
                <a:solidFill>
                  <a:srgbClr val="0050AA"/>
                </a:solidFill>
                <a:latin typeface="Helvetica Neue"/>
              </a:rPr>
              <a:t>We build them.</a:t>
            </a:r>
          </a:p>
        </p:txBody>
      </p:sp>
      <p:sp>
        <p:nvSpPr>
          <p:cNvPr id="4" name="Div2"/>
          <p:cNvSpPr/>
          <p:nvPr/>
        </p:nvSpPr>
        <p:spPr>
          <a:xfrm>
            <a:off x="3048000" y="3886200"/>
            <a:ext cx="6096000" cy="22860"/>
          </a:xfrm>
          <a:prstGeom prst="rect">
            <a:avLst/>
          </a:prstGeom>
          <a:solidFill>
            <a:srgbClr val="E8EDF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ub"/>
          <p:cNvSpPr txBox="1"/>
          <p:nvPr/>
        </p:nvSpPr>
        <p:spPr>
          <a:xfrm>
            <a:off x="1524000" y="4114800"/>
            <a:ext cx="3541643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r>
              <a:rPr lang="en-US" sz="1600" dirty="0"/>
              <a:t>Philadelphia PGA Section</a:t>
            </a:r>
          </a:p>
          <a:p>
            <a:r>
              <a:rPr lang="en-US" sz="1600" dirty="0"/>
              <a:t>→ Professionals growing the game</a:t>
            </a:r>
          </a:p>
          <a:p>
            <a:endParaRPr lang="en-US" sz="1400" dirty="0"/>
          </a:p>
          <a:p>
            <a:br>
              <a:rPr lang="en-US" sz="1600" dirty="0"/>
            </a:br>
            <a:endParaRPr lang="en-US" dirty="0"/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13E2D7A-8437-1EA6-1241-8C89BBCEB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595" y="0"/>
            <a:ext cx="1503404" cy="1277329"/>
          </a:xfrm>
          <a:prstGeom prst="rect">
            <a:avLst/>
          </a:prstGeom>
        </p:spPr>
      </p:pic>
      <p:sp>
        <p:nvSpPr>
          <p:cNvPr id="7" name="Sub">
            <a:extLst>
              <a:ext uri="{FF2B5EF4-FFF2-40B4-BE49-F238E27FC236}">
                <a16:creationId xmlns:a16="http://schemas.microsoft.com/office/drawing/2014/main" id="{4650C5FC-1C05-EC5D-7340-CB442D82A5EC}"/>
              </a:ext>
            </a:extLst>
          </p:cNvPr>
          <p:cNvSpPr txBox="1"/>
          <p:nvPr/>
        </p:nvSpPr>
        <p:spPr>
          <a:xfrm>
            <a:off x="4696239" y="4108837"/>
            <a:ext cx="3541643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r>
              <a:rPr lang="en-US" sz="1600" dirty="0"/>
              <a:t>Junior Tour</a:t>
            </a:r>
          </a:p>
          <a:p>
            <a:r>
              <a:rPr lang="en-US" sz="1600" dirty="0"/>
              <a:t>→ Competitive youth development</a:t>
            </a:r>
          </a:p>
        </p:txBody>
      </p:sp>
      <p:sp>
        <p:nvSpPr>
          <p:cNvPr id="8" name="Sub">
            <a:extLst>
              <a:ext uri="{FF2B5EF4-FFF2-40B4-BE49-F238E27FC236}">
                <a16:creationId xmlns:a16="http://schemas.microsoft.com/office/drawing/2014/main" id="{6E4FE6ED-6B89-B995-EF90-A79F240C8A3E}"/>
              </a:ext>
            </a:extLst>
          </p:cNvPr>
          <p:cNvSpPr txBox="1"/>
          <p:nvPr/>
        </p:nvSpPr>
        <p:spPr>
          <a:xfrm>
            <a:off x="7898654" y="4114800"/>
            <a:ext cx="3541643" cy="9144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r>
              <a:rPr lang="en-US" sz="1600" dirty="0"/>
              <a:t>REACH Foundation</a:t>
            </a:r>
          </a:p>
          <a:p>
            <a:r>
              <a:rPr lang="en-US" sz="1600" dirty="0"/>
              <a:t>→ Youth, Military, Diversity programs</a:t>
            </a:r>
          </a:p>
        </p:txBody>
      </p:sp>
      <p:sp>
        <p:nvSpPr>
          <p:cNvPr id="9" name="Sub">
            <a:extLst>
              <a:ext uri="{FF2B5EF4-FFF2-40B4-BE49-F238E27FC236}">
                <a16:creationId xmlns:a16="http://schemas.microsoft.com/office/drawing/2014/main" id="{3FEFDEAD-B121-37DB-527F-BF08B1F01C6C}"/>
              </a:ext>
            </a:extLst>
          </p:cNvPr>
          <p:cNvSpPr txBox="1"/>
          <p:nvPr/>
        </p:nvSpPr>
        <p:spPr>
          <a:xfrm>
            <a:off x="2782956" y="5324393"/>
            <a:ext cx="7066722" cy="9144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r>
              <a:rPr lang="en-US" sz="2800" dirty="0"/>
              <a:t>“Our strategy increases visibility for all three.”</a:t>
            </a:r>
          </a:p>
        </p:txBody>
      </p:sp>
    </p:spTree>
    <p:extLst>
      <p:ext uri="{BB962C8B-B14F-4D97-AF65-F5344CB8AC3E}">
        <p14:creationId xmlns:p14="http://schemas.microsoft.com/office/powerpoint/2010/main" val="353992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l"/>
          <p:cNvSpPr txBox="1"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1400" b="1">
                <a:solidFill>
                  <a:srgbClr val="0050AA"/>
                </a:solidFill>
                <a:latin typeface="Calibri"/>
              </a:rPr>
              <a:t>WEBSITE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r>
              <a:rPr lang="en-US" sz="2400" b="1">
                <a:solidFill>
                  <a:srgbClr val="00205B"/>
                </a:solidFill>
                <a:latin typeface="Helvetica Neue"/>
              </a:rPr>
              <a:t>Rebuild Website, Differ the Vision </a:t>
            </a:r>
          </a:p>
        </p:txBody>
      </p:sp>
      <p:sp>
        <p:nvSpPr>
          <p:cNvPr id="10" name="Acc0"/>
          <p:cNvSpPr/>
          <p:nvPr/>
        </p:nvSpPr>
        <p:spPr>
          <a:xfrm>
            <a:off x="609600" y="1371600"/>
            <a:ext cx="35052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Fix0"/>
          <p:cNvSpPr/>
          <p:nvPr/>
        </p:nvSpPr>
        <p:spPr>
          <a:xfrm>
            <a:off x="609600" y="1402080"/>
            <a:ext cx="3505200" cy="381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n-US" sz="2000" b="1">
                <a:solidFill>
                  <a:srgbClr val="0050AA"/>
                </a:solidFill>
                <a:latin typeface="Calibri"/>
              </a:rPr>
              <a:t>01</a:t>
            </a:r>
            <a:endParaRPr lang="en-US" sz="2000" b="1">
              <a:solidFill>
                <a:srgbClr val="0050AA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lang="en-US" sz="2000" b="1">
                <a:latin typeface="Helvetica Neue"/>
              </a:rPr>
              <a:t>Focus on the community. </a:t>
            </a:r>
          </a:p>
          <a:p>
            <a:pPr>
              <a:spcBef>
                <a:spcPts val="400"/>
              </a:spcBef>
            </a:pPr>
            <a:endParaRPr lang="en-US" sz="2000">
              <a:solidFill>
                <a:srgbClr val="4B5563"/>
              </a:solidFill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lang="en-US" sz="2000">
                <a:solidFill>
                  <a:srgbClr val="4B5563"/>
                </a:solidFill>
                <a:ea typeface="Calibri"/>
                <a:cs typeface="Calibri"/>
              </a:rPr>
              <a:t>Uplifting beginners and encouraging them to connect with the larger community via the website. </a:t>
            </a:r>
            <a:endParaRPr lang="en-US" sz="2000"/>
          </a:p>
        </p:txBody>
      </p:sp>
      <p:sp>
        <p:nvSpPr>
          <p:cNvPr id="11" name="Acc1"/>
          <p:cNvSpPr/>
          <p:nvPr/>
        </p:nvSpPr>
        <p:spPr>
          <a:xfrm>
            <a:off x="4343400" y="1371600"/>
            <a:ext cx="35052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ix1"/>
          <p:cNvSpPr/>
          <p:nvPr/>
        </p:nvSpPr>
        <p:spPr>
          <a:xfrm>
            <a:off x="4343400" y="1402080"/>
            <a:ext cx="3505200" cy="381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n-US" sz="2000" b="1">
                <a:solidFill>
                  <a:srgbClr val="0050AA"/>
                </a:solidFill>
                <a:latin typeface="Calibri"/>
              </a:rPr>
              <a:t>02</a:t>
            </a:r>
            <a:endParaRPr lang="en-US" sz="2000" b="1">
              <a:solidFill>
                <a:srgbClr val="0050AA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400"/>
              </a:spcBef>
              <a:buNone/>
            </a:pPr>
            <a:r>
              <a:rPr lang="en-US" sz="2000" b="1">
                <a:solidFill>
                  <a:srgbClr val="00205B"/>
                </a:solidFill>
                <a:latin typeface="Helvetica Neue"/>
              </a:rPr>
              <a:t>“Not the Tour” Moment</a:t>
            </a:r>
          </a:p>
          <a:p>
            <a:pPr>
              <a:spcBef>
                <a:spcPts val="600"/>
              </a:spcBef>
            </a:pPr>
            <a:endParaRPr lang="en-US" sz="2000">
              <a:solidFill>
                <a:srgbClr val="4B5563"/>
              </a:solidFill>
              <a:latin typeface="Calibri"/>
            </a:endParaRPr>
          </a:p>
          <a:p>
            <a:pPr algn="l">
              <a:spcBef>
                <a:spcPts val="600"/>
              </a:spcBef>
              <a:buNone/>
            </a:pPr>
            <a:r>
              <a:rPr lang="en-US" sz="2000">
                <a:solidFill>
                  <a:srgbClr val="4B5563"/>
                </a:solidFill>
                <a:latin typeface="Calibri"/>
              </a:rPr>
              <a:t>Within the first scroll, address the confusion directly. Own the distinction with confidence. Make it a brand asset, not a liability.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Acc2"/>
          <p:cNvSpPr/>
          <p:nvPr/>
        </p:nvSpPr>
        <p:spPr>
          <a:xfrm>
            <a:off x="8077200" y="1371600"/>
            <a:ext cx="35052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Fix2"/>
          <p:cNvSpPr/>
          <p:nvPr/>
        </p:nvSpPr>
        <p:spPr>
          <a:xfrm>
            <a:off x="8077200" y="1402080"/>
            <a:ext cx="3505200" cy="381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n-US" sz="2000" b="1">
                <a:solidFill>
                  <a:srgbClr val="0050AA"/>
                </a:solidFill>
                <a:latin typeface="Calibri"/>
              </a:rPr>
              <a:t>03</a:t>
            </a:r>
            <a:endParaRPr lang="en-US" sz="2000" b="1">
              <a:solidFill>
                <a:srgbClr val="0050AA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400"/>
              </a:spcBef>
              <a:buNone/>
            </a:pPr>
            <a:r>
              <a:rPr lang="en-US" sz="2000" b="1">
                <a:solidFill>
                  <a:srgbClr val="00205B"/>
                </a:solidFill>
                <a:latin typeface="Helvetica Neue"/>
              </a:rPr>
              <a:t>Pro Directory → App</a:t>
            </a:r>
          </a:p>
          <a:p>
            <a:pPr>
              <a:spcBef>
                <a:spcPts val="600"/>
              </a:spcBef>
            </a:pPr>
            <a:endParaRPr lang="en-US" sz="2000">
              <a:solidFill>
                <a:srgbClr val="4B5563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rgbClr val="4B5563"/>
                </a:solidFill>
                <a:latin typeface="Calibri"/>
              </a:rPr>
              <a:t>Rebuild the pro directory as a consumer product: video intros, teaching philosophies, and social media inclusion.  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rgbClr val="4B5563"/>
                </a:solidFill>
                <a:latin typeface="Calibri"/>
              </a:rPr>
              <a:t>Future progression: native mobile app.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41324BD9-6A41-DF60-32A4-19FEFE044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595" y="0"/>
            <a:ext cx="1503404" cy="127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7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l"/>
          <p:cNvSpPr txBox="1"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1400" b="1">
                <a:solidFill>
                  <a:srgbClr val="0050AA"/>
                </a:solidFill>
                <a:latin typeface="Calibri"/>
              </a:rPr>
              <a:t>CREATOR PROGRAM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r>
              <a:rPr lang="en-US" sz="2400" b="1">
                <a:solidFill>
                  <a:srgbClr val="00205B"/>
                </a:solidFill>
                <a:latin typeface="Helvetica Neue"/>
              </a:rPr>
              <a:t>900 Pros = A Media Network. (REACH) 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609600" y="1371600"/>
            <a:ext cx="5486400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200" b="1">
                <a:solidFill>
                  <a:srgbClr val="00205B"/>
                </a:solidFill>
                <a:latin typeface="Calibri"/>
              </a:rPr>
              <a:t>THE CREATOR COHORT</a:t>
            </a:r>
            <a:endParaRPr lang="en-US" sz="2200" b="1">
              <a:solidFill>
                <a:srgbClr val="00205B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spcBef>
                <a:spcPts val="600"/>
              </a:spcBef>
              <a:buFont typeface="Calibri"/>
              <a:buChar char="—"/>
            </a:pPr>
            <a:r>
              <a:rPr lang="en-US" sz="2200">
                <a:solidFill>
                  <a:srgbClr val="4B5563"/>
                </a:solidFill>
                <a:latin typeface="Calibri"/>
              </a:rPr>
              <a:t>Identify 10–15 pros who already create content or have audience potential</a:t>
            </a:r>
            <a:endParaRPr lang="en-US" sz="22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spcBef>
                <a:spcPts val="400"/>
              </a:spcBef>
              <a:buFont typeface="Calibri"/>
              <a:buChar char="—"/>
            </a:pPr>
            <a:r>
              <a:rPr lang="en-US" sz="2200">
                <a:solidFill>
                  <a:srgbClr val="4B5563"/>
                </a:solidFill>
                <a:latin typeface="Calibri"/>
              </a:rPr>
              <a:t>Monthly partnership: event access + co-branded materials + light production</a:t>
            </a:r>
            <a:endParaRPr lang="en-US" sz="22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spcBef>
                <a:spcPts val="400"/>
              </a:spcBef>
              <a:buFont typeface="Calibri"/>
              <a:buChar char="—"/>
            </a:pPr>
            <a:r>
              <a:rPr lang="en-US" sz="2200">
                <a:solidFill>
                  <a:srgbClr val="4B5563"/>
                </a:solidFill>
                <a:latin typeface="Calibri"/>
              </a:rPr>
              <a:t>Every video links to the pro’s profile on the Section site</a:t>
            </a:r>
            <a:endParaRPr lang="en-US" sz="22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spcBef>
                <a:spcPts val="400"/>
              </a:spcBef>
              <a:buFont typeface="Calibri"/>
              <a:buChar char="—"/>
            </a:pPr>
            <a:r>
              <a:rPr lang="en-US" sz="2200" b="1">
                <a:solidFill>
                  <a:srgbClr val="00205B"/>
                </a:solidFill>
                <a:latin typeface="Calibri"/>
              </a:rPr>
              <a:t>Customer acquisition cost: effectively zero</a:t>
            </a:r>
            <a:endParaRPr lang="en-US" sz="2200" b="1">
              <a:solidFill>
                <a:srgbClr val="00205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Vision"/>
          <p:cNvSpPr/>
          <p:nvPr/>
        </p:nvSpPr>
        <p:spPr>
          <a:xfrm>
            <a:off x="6324600" y="1371600"/>
            <a:ext cx="5486400" cy="457200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 wrap="square" lIns="228600" tIns="228600" rIns="228600" bIns="137160" anchor="t"/>
          <a:lstStyle/>
          <a:p>
            <a:pPr algn="l">
              <a:buNone/>
            </a:pPr>
            <a:r>
              <a:rPr lang="en-US" sz="2200" b="1">
                <a:solidFill>
                  <a:srgbClr val="4A90D9"/>
                </a:solidFill>
                <a:latin typeface="Calibri"/>
              </a:rPr>
              <a:t>THE BIG SWING</a:t>
            </a:r>
            <a:endParaRPr lang="en-US" sz="2200" b="1">
              <a:solidFill>
                <a:srgbClr val="4A90D9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60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Helvetica Neue"/>
              </a:rPr>
              <a:t>A mini-documentary series following three non-golfers through their first season with a Philadelphia PGA Professional.</a:t>
            </a:r>
          </a:p>
          <a:p>
            <a:pPr algn="l">
              <a:spcBef>
                <a:spcPts val="600"/>
              </a:spcBef>
              <a:buNone/>
            </a:pPr>
            <a:endParaRPr lang="en-US" sz="2200">
              <a:solidFill>
                <a:srgbClr val="A0B4D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34A96D9B-41FA-46C0-D818-402D40B10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595" y="0"/>
            <a:ext cx="1503404" cy="127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0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l"/>
          <p:cNvSpPr txBox="1"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1400" b="1">
                <a:solidFill>
                  <a:srgbClr val="0050AA"/>
                </a:solidFill>
                <a:latin typeface="Calibri"/>
              </a:rPr>
              <a:t>SOCIAL MEDIA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400" b="1">
                <a:solidFill>
                  <a:srgbClr val="00205B"/>
                </a:solidFill>
                <a:latin typeface="Helvetica Neue"/>
              </a:rPr>
              <a:t> One Consistent Story. Zero Wasted Spend.</a:t>
            </a:r>
          </a:p>
        </p:txBody>
      </p:sp>
      <p:sp>
        <p:nvSpPr>
          <p:cNvPr id="10" name="Acc0"/>
          <p:cNvSpPr/>
          <p:nvPr/>
        </p:nvSpPr>
        <p:spPr>
          <a:xfrm>
            <a:off x="609600" y="1371600"/>
            <a:ext cx="35052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l0"/>
          <p:cNvSpPr/>
          <p:nvPr/>
        </p:nvSpPr>
        <p:spPr>
          <a:xfrm>
            <a:off x="609600" y="1402080"/>
            <a:ext cx="3505200" cy="42672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n-US" sz="2200" b="1">
                <a:solidFill>
                  <a:srgbClr val="0050AA"/>
                </a:solidFill>
                <a:latin typeface="Calibri"/>
              </a:rPr>
              <a:t>DISTINGUISH</a:t>
            </a:r>
            <a:endParaRPr lang="en-US" sz="2200" b="1">
              <a:solidFill>
                <a:srgbClr val="0050AA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400"/>
              </a:spcBef>
              <a:buNone/>
            </a:pPr>
            <a:r>
              <a:rPr lang="en-US" sz="2200" b="1">
                <a:solidFill>
                  <a:srgbClr val="00205B"/>
                </a:solidFill>
                <a:latin typeface="Helvetica Neue"/>
              </a:rPr>
              <a:t>“Did You Know”</a:t>
            </a:r>
          </a:p>
          <a:p>
            <a:pPr>
              <a:spcBef>
                <a:spcPts val="600"/>
              </a:spcBef>
            </a:pPr>
            <a:endParaRPr lang="en-US" sz="22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600"/>
              </a:spcBef>
              <a:buNone/>
            </a:pPr>
            <a:r>
              <a:rPr lang="en-US" sz="2200">
                <a:solidFill>
                  <a:srgbClr val="4B5563"/>
                </a:solidFill>
                <a:latin typeface="Calibri"/>
              </a:rPr>
              <a:t>Weekly short-form content on Instagram, TikTok, X directly addressing the PGA brand confusion. Designed to go viral among insiders, discoverable by non-golfers.</a:t>
            </a:r>
            <a:endParaRPr lang="en-US" sz="22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Acc1"/>
          <p:cNvSpPr/>
          <p:nvPr/>
        </p:nvSpPr>
        <p:spPr>
          <a:xfrm>
            <a:off x="4343400" y="1371600"/>
            <a:ext cx="35052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il1"/>
          <p:cNvSpPr/>
          <p:nvPr/>
        </p:nvSpPr>
        <p:spPr>
          <a:xfrm>
            <a:off x="4343400" y="1402080"/>
            <a:ext cx="3505200" cy="42672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n-US" sz="2200" b="1">
                <a:solidFill>
                  <a:srgbClr val="0050AA"/>
                </a:solidFill>
                <a:latin typeface="Calibri"/>
              </a:rPr>
              <a:t>HUMANIZE</a:t>
            </a:r>
            <a:endParaRPr lang="en-US" sz="2200" b="1">
              <a:solidFill>
                <a:srgbClr val="0050AA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400"/>
              </a:spcBef>
              <a:buNone/>
            </a:pPr>
            <a:r>
              <a:rPr lang="en-US" sz="2200" b="1">
                <a:solidFill>
                  <a:srgbClr val="00205B"/>
                </a:solidFill>
                <a:latin typeface="Helvetica Neue"/>
              </a:rPr>
              <a:t>Meet Your Pro</a:t>
            </a:r>
          </a:p>
          <a:p>
            <a:pPr>
              <a:spcBef>
                <a:spcPts val="600"/>
              </a:spcBef>
            </a:pPr>
            <a:endParaRPr lang="en-US" sz="22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600"/>
              </a:spcBef>
              <a:buNone/>
            </a:pPr>
            <a:r>
              <a:rPr lang="en-US" sz="2200">
                <a:solidFill>
                  <a:srgbClr val="4B5563"/>
                </a:solidFill>
                <a:latin typeface="Calibri"/>
              </a:rPr>
              <a:t>One pro per week. 60–90 seconds. Real stories, real students, no scripts. Cross-posted from pro’s channels. The human face the Section currently lacks.</a:t>
            </a:r>
            <a:endParaRPr lang="en-US" sz="22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Acc2"/>
          <p:cNvSpPr/>
          <p:nvPr/>
        </p:nvSpPr>
        <p:spPr>
          <a:xfrm>
            <a:off x="8077200" y="1371600"/>
            <a:ext cx="35052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il2"/>
          <p:cNvSpPr/>
          <p:nvPr/>
        </p:nvSpPr>
        <p:spPr>
          <a:xfrm>
            <a:off x="8077200" y="1402080"/>
            <a:ext cx="3505200" cy="42672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n-US" sz="2200" b="1">
                <a:solidFill>
                  <a:srgbClr val="0050AA"/>
                </a:solidFill>
                <a:latin typeface="Calibri"/>
              </a:rPr>
              <a:t>CONVERT</a:t>
            </a:r>
            <a:endParaRPr lang="en-US" sz="2200" b="1">
              <a:solidFill>
                <a:srgbClr val="0050AA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400"/>
              </a:spcBef>
              <a:buNone/>
            </a:pPr>
            <a:r>
              <a:rPr lang="en-US" sz="2200" b="1">
                <a:solidFill>
                  <a:srgbClr val="00205B"/>
                </a:solidFill>
                <a:latin typeface="Helvetica Neue"/>
              </a:rPr>
              <a:t>Beginner-First Content</a:t>
            </a:r>
          </a:p>
          <a:p>
            <a:pPr>
              <a:spcBef>
                <a:spcPts val="600"/>
              </a:spcBef>
            </a:pPr>
            <a:endParaRPr lang="en-US" sz="22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4B5563"/>
                </a:solidFill>
                <a:latin typeface="Calibri"/>
              </a:rPr>
              <a:t>21 million Americans want to try golf. Target the Philly market slice with accessible TikTok/Reels content. Own the “first step” moment.</a:t>
            </a:r>
            <a:endParaRPr lang="en-US" sz="22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EE85D6FF-159E-0468-F805-7DD6CE86A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595" y="0"/>
            <a:ext cx="1503404" cy="127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8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l"/>
          <p:cNvSpPr txBox="1"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1400" b="1">
                <a:solidFill>
                  <a:srgbClr val="0050AA"/>
                </a:solidFill>
                <a:latin typeface="Calibri"/>
              </a:rPr>
              <a:t>IMPLEMENTATION &amp; FUTURE VISION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2400" b="1">
                <a:solidFill>
                  <a:srgbClr val="00205B"/>
                </a:solidFill>
                <a:latin typeface="Helvetica Neue"/>
              </a:rPr>
              <a:t>18 Months to Ownership. Then Scale.</a:t>
            </a:r>
          </a:p>
        </p:txBody>
      </p:sp>
      <p:sp>
        <p:nvSpPr>
          <p:cNvPr id="10" name="AccL"/>
          <p:cNvSpPr/>
          <p:nvPr/>
        </p:nvSpPr>
        <p:spPr>
          <a:xfrm>
            <a:off x="609600" y="1371600"/>
            <a:ext cx="54864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"/>
          <p:cNvSpPr/>
          <p:nvPr/>
        </p:nvSpPr>
        <p:spPr>
          <a:xfrm>
            <a:off x="609600" y="1402080"/>
            <a:ext cx="5486400" cy="48768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00205B"/>
                </a:solidFill>
                <a:latin typeface="Helvetica Neue"/>
              </a:rPr>
              <a:t>18-Month Plan</a:t>
            </a:r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0050AA"/>
                </a:solidFill>
                <a:latin typeface="Calibri"/>
              </a:rPr>
              <a:t>MONTHS 1–3: </a:t>
            </a:r>
            <a:r>
              <a:rPr lang="en-US" sz="2000" b="1">
                <a:solidFill>
                  <a:srgbClr val="0050AA"/>
                </a:solidFill>
                <a:latin typeface="Calibri"/>
              </a:rPr>
              <a:t>FOUNDATION</a:t>
            </a:r>
            <a:endParaRPr lang="en-US" sz="2000">
              <a:solidFill>
                <a:srgbClr val="4B5563"/>
              </a:solidFill>
              <a:latin typeface="Calibri"/>
            </a:endParaRP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lang="en-US" sz="2000">
                <a:solidFill>
                  <a:srgbClr val="4B5563"/>
                </a:solidFill>
                <a:latin typeface="Calibri"/>
              </a:rPr>
              <a:t>Brand</a:t>
            </a:r>
            <a:r>
              <a:rPr lang="en-US" sz="2000" dirty="0">
                <a:solidFill>
                  <a:srgbClr val="4B5563"/>
                </a:solidFill>
                <a:latin typeface="Calibri"/>
              </a:rPr>
              <a:t> </a:t>
            </a:r>
            <a:r>
              <a:rPr lang="en-US" sz="2000">
                <a:solidFill>
                  <a:srgbClr val="4B5563"/>
                </a:solidFill>
                <a:latin typeface="Calibri"/>
              </a:rPr>
              <a:t>personality</a:t>
            </a:r>
            <a:r>
              <a:rPr lang="en-US" sz="2000" dirty="0">
                <a:solidFill>
                  <a:srgbClr val="4B5563"/>
                </a:solidFill>
                <a:latin typeface="Calibri"/>
              </a:rPr>
              <a:t> + website audit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100"/>
              </a:spcBef>
              <a:buFont typeface="Arial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/>
              </a:rPr>
              <a:t>Homepage rewritten + QR code live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100"/>
              </a:spcBef>
              <a:buFont typeface="Arial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/>
              </a:rPr>
              <a:t>Initial 10–15 creator pros identified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0050AA"/>
                </a:solidFill>
                <a:latin typeface="Calibri"/>
              </a:rPr>
              <a:t>MONTHS 4–6: SOFT LAUNCH</a:t>
            </a:r>
            <a:endParaRPr lang="en-US" sz="2000" b="1" dirty="0">
              <a:solidFill>
                <a:srgbClr val="0050AA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/>
              </a:rPr>
              <a:t>“Did You Know” + “Meet Your Pro” live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100"/>
              </a:spcBef>
              <a:buFont typeface="Arial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/>
              </a:rPr>
              <a:t>Topgolf partnership initiated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100"/>
              </a:spcBef>
              <a:buFont typeface="Arial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/>
              </a:rPr>
              <a:t>Corporate soft-pitches: first 5 targets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0050AA"/>
                </a:solidFill>
                <a:latin typeface="Calibri"/>
              </a:rPr>
              <a:t>MONTHS 7–18: SCALE</a:t>
            </a:r>
            <a:endParaRPr lang="en-US" sz="2000" b="1" dirty="0">
              <a:solidFill>
                <a:srgbClr val="0050AA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/>
              </a:rPr>
              <a:t>Creator cohort + pro directory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100"/>
              </a:spcBef>
              <a:buFont typeface="Arial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/>
              </a:rPr>
              <a:t>Corporate program formally launched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100"/>
              </a:spcBef>
              <a:buFont typeface="Arial"/>
              <a:buChar char="•"/>
            </a:pPr>
            <a:r>
              <a:rPr lang="en-US" sz="2000">
                <a:solidFill>
                  <a:srgbClr val="4B5563"/>
                </a:solidFill>
                <a:latin typeface="Calibri"/>
              </a:rPr>
              <a:t>Public</a:t>
            </a:r>
            <a:r>
              <a:rPr lang="en-US" sz="2000" dirty="0">
                <a:solidFill>
                  <a:srgbClr val="4B5563"/>
                </a:solidFill>
                <a:latin typeface="Calibri"/>
              </a:rPr>
              <a:t> narrative campaign to media</a:t>
            </a:r>
            <a:endParaRPr lang="en-US" sz="200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Right"/>
          <p:cNvSpPr/>
          <p:nvPr/>
        </p:nvSpPr>
        <p:spPr>
          <a:xfrm>
            <a:off x="6324600" y="1371600"/>
            <a:ext cx="5486400" cy="49072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en-US" b="1">
                <a:solidFill>
                  <a:srgbClr val="FFFFFF"/>
                </a:solidFill>
                <a:latin typeface="Helvetica Neue"/>
              </a:rPr>
              <a:t>Future Plans (Year 2+)</a:t>
            </a:r>
          </a:p>
          <a:p>
            <a:pPr algn="l">
              <a:spcBef>
                <a:spcPts val="600"/>
              </a:spcBef>
              <a:buNone/>
            </a:pPr>
            <a:r>
              <a:rPr lang="en-US" b="1">
                <a:solidFill>
                  <a:srgbClr val="4A90D9"/>
                </a:solidFill>
                <a:latin typeface="Calibri"/>
              </a:rPr>
              <a:t>GOLF ACCESS FUND</a:t>
            </a:r>
            <a:endParaRPr lang="en-US" b="1">
              <a:solidFill>
                <a:srgbClr val="4A90D9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spcBef>
                <a:spcPts val="200"/>
              </a:spcBef>
              <a:buFont typeface="Arial"/>
              <a:buChar char="•"/>
            </a:pPr>
            <a:r>
              <a:rPr lang="en-US">
                <a:solidFill>
                  <a:srgbClr val="C8D6E8"/>
                </a:solidFill>
                <a:latin typeface="Calibri"/>
              </a:rPr>
              <a:t>Launch a scholarship fund through REACH to subsidize lessons for underprivileged families</a:t>
            </a:r>
            <a:endParaRPr lang="en-US">
              <a:solidFill>
                <a:srgbClr val="C8D6E8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spcBef>
                <a:spcPts val="100"/>
              </a:spcBef>
              <a:buFont typeface="Arial"/>
              <a:buChar char="•"/>
            </a:pPr>
            <a:r>
              <a:rPr lang="en-US">
                <a:solidFill>
                  <a:srgbClr val="C8D6E8"/>
                </a:solidFill>
                <a:latin typeface="Calibri"/>
              </a:rPr>
              <a:t> Corporate sponsors fund access; Section delivers instruction through the 900 pros</a:t>
            </a:r>
            <a:endParaRPr lang="en-US">
              <a:solidFill>
                <a:srgbClr val="C8D6E8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600"/>
              </a:spcBef>
              <a:buNone/>
            </a:pPr>
            <a:r>
              <a:rPr lang="en-US" b="1">
                <a:solidFill>
                  <a:srgbClr val="4A90D9"/>
                </a:solidFill>
                <a:latin typeface="Calibri"/>
              </a:rPr>
              <a:t>YOUTH LEARNING PIPELINE</a:t>
            </a:r>
            <a:endParaRPr lang="en-US" b="1">
              <a:solidFill>
                <a:srgbClr val="4A90D9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>
                <a:solidFill>
                  <a:srgbClr val="C8D6E8"/>
                </a:solidFill>
                <a:latin typeface="Calibri"/>
              </a:rPr>
              <a:t>Partner with schools + Boys &amp; Girls Clubs for free intro clinics led by PGA Pros</a:t>
            </a:r>
            <a:endParaRPr lang="en-US">
              <a:solidFill>
                <a:srgbClr val="C8D6E8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100"/>
              </a:spcBef>
              <a:buFont typeface="Arial"/>
              <a:buChar char="•"/>
            </a:pPr>
            <a:r>
              <a:rPr lang="en-US">
                <a:solidFill>
                  <a:srgbClr val="C8D6E8"/>
                </a:solidFill>
                <a:latin typeface="Calibri"/>
              </a:rPr>
              <a:t>Clear pathway: clinic → Junior Tour → competitive development</a:t>
            </a:r>
            <a:endParaRPr lang="en-US">
              <a:solidFill>
                <a:srgbClr val="C8D6E8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600"/>
              </a:spcBef>
              <a:buNone/>
            </a:pPr>
            <a:r>
              <a:rPr lang="en-US" b="1">
                <a:solidFill>
                  <a:srgbClr val="4A90D9"/>
                </a:solidFill>
                <a:latin typeface="Calibri"/>
              </a:rPr>
              <a:t>PLATFORM &amp; SCALE</a:t>
            </a:r>
            <a:endParaRPr lang="en-US" b="1">
              <a:solidFill>
                <a:srgbClr val="4A90D9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>
                <a:solidFill>
                  <a:srgbClr val="C8D6E8"/>
                </a:solidFill>
                <a:latin typeface="Calibri"/>
              </a:rPr>
              <a:t>Mobile app launch (evolved from QR/website)</a:t>
            </a:r>
            <a:endParaRPr lang="en-US">
              <a:solidFill>
                <a:srgbClr val="C8D6E8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100"/>
              </a:spcBef>
              <a:buFont typeface="Arial"/>
              <a:buChar char="•"/>
            </a:pPr>
            <a:r>
              <a:rPr lang="en-US">
                <a:solidFill>
                  <a:srgbClr val="C8D6E8"/>
                </a:solidFill>
                <a:latin typeface="Calibri"/>
              </a:rPr>
              <a:t>Creator cohort doubles; documentary series</a:t>
            </a:r>
            <a:endParaRPr lang="en-US">
              <a:solidFill>
                <a:srgbClr val="C8D6E8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spcBef>
                <a:spcPts val="100"/>
              </a:spcBef>
              <a:buFont typeface="Arial"/>
              <a:buChar char="•"/>
            </a:pPr>
            <a:r>
              <a:rPr lang="en-US">
                <a:solidFill>
                  <a:srgbClr val="C8D6E8"/>
                </a:solidFill>
                <a:latin typeface="Calibri"/>
              </a:rPr>
              <a:t>Annual community golf event (Year 3)</a:t>
            </a:r>
            <a:endParaRPr lang="en-US">
              <a:solidFill>
                <a:srgbClr val="C8D6E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E09656B8-382D-D7ED-86A8-839572FC7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595" y="0"/>
            <a:ext cx="1503404" cy="127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542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68F19A3C-75F4-667D-733A-24E3A0F88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279" y="794720"/>
            <a:ext cx="6384721" cy="5424616"/>
          </a:xfrm>
          <a:prstGeom prst="rect">
            <a:avLst/>
          </a:prstGeom>
        </p:spPr>
      </p:pic>
      <p:pic>
        <p:nvPicPr>
          <p:cNvPr id="4" name="Picture 3" descr="A qr code with blue circles&#10;&#10;AI-generated content may be incorrect.">
            <a:extLst>
              <a:ext uri="{FF2B5EF4-FFF2-40B4-BE49-F238E27FC236}">
                <a16:creationId xmlns:a16="http://schemas.microsoft.com/office/drawing/2014/main" id="{6A48CB95-617F-B353-6776-6B603FA6A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64" y="518984"/>
            <a:ext cx="5820032" cy="582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34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l"/>
          <p:cNvSpPr txBox="1"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1400" b="1">
                <a:solidFill>
                  <a:srgbClr val="0050AA"/>
                </a:solidFill>
                <a:latin typeface="Calibri"/>
              </a:rPr>
              <a:t>PARTNERSHIPS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2400" b="1">
                <a:solidFill>
                  <a:srgbClr val="00205B"/>
                </a:solidFill>
                <a:latin typeface="Helvetica Neue"/>
              </a:rPr>
              <a:t>Three Partnership Lanes. Three Revenue Streams.</a:t>
            </a:r>
          </a:p>
        </p:txBody>
      </p:sp>
      <p:sp>
        <p:nvSpPr>
          <p:cNvPr id="10" name="Acc0"/>
          <p:cNvSpPr/>
          <p:nvPr/>
        </p:nvSpPr>
        <p:spPr>
          <a:xfrm>
            <a:off x="609600" y="1371600"/>
            <a:ext cx="35052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art0"/>
          <p:cNvSpPr/>
          <p:nvPr/>
        </p:nvSpPr>
        <p:spPr>
          <a:xfrm>
            <a:off x="609600" y="1402080"/>
            <a:ext cx="3505200" cy="42672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n-US" sz="2400" b="1" dirty="0">
                <a:solidFill>
                  <a:srgbClr val="00205B"/>
                </a:solidFill>
                <a:latin typeface="Helvetica Neue"/>
              </a:rPr>
              <a:t>Topgolf / Simulators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i="1" dirty="0">
                <a:solidFill>
                  <a:srgbClr val="0050AA"/>
                </a:solidFill>
                <a:latin typeface="Calibri"/>
              </a:rPr>
              <a:t>Top of the funnel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2/3 of new golfers start off-course</a:t>
            </a:r>
            <a:endParaRPr lang="en-US" sz="1600" dirty="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Co-brand at Bridgewater + King of Prussia</a:t>
            </a:r>
            <a:endParaRPr lang="en-US" sz="1600" dirty="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In-venue signage, digital prompts “next step” to the pro directory</a:t>
            </a:r>
            <a:endParaRPr lang="en-US" sz="1600" dirty="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Acc1"/>
          <p:cNvSpPr/>
          <p:nvPr/>
        </p:nvSpPr>
        <p:spPr>
          <a:xfrm>
            <a:off x="4343400" y="1371600"/>
            <a:ext cx="35052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art1"/>
          <p:cNvSpPr/>
          <p:nvPr/>
        </p:nvSpPr>
        <p:spPr>
          <a:xfrm>
            <a:off x="4343400" y="1402080"/>
            <a:ext cx="3505200" cy="42672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n-US" sz="2400" b="1" dirty="0">
                <a:solidFill>
                  <a:srgbClr val="00205B"/>
                </a:solidFill>
                <a:latin typeface="Helvetica Neue"/>
              </a:rPr>
              <a:t>REACH Expansion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i="1" dirty="0">
                <a:solidFill>
                  <a:srgbClr val="0050AA"/>
                </a:solidFill>
                <a:latin typeface="Calibri"/>
              </a:rPr>
              <a:t>Community story engine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Youth orgs, veterans’ groups, DEI programs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Each partnership generates stories no ad budget can replicate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Earned media at scale</a:t>
            </a:r>
          </a:p>
        </p:txBody>
      </p:sp>
      <p:sp>
        <p:nvSpPr>
          <p:cNvPr id="12" name="Acc2"/>
          <p:cNvSpPr/>
          <p:nvPr/>
        </p:nvSpPr>
        <p:spPr>
          <a:xfrm>
            <a:off x="8077200" y="1371600"/>
            <a:ext cx="3505200" cy="3048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art2"/>
          <p:cNvSpPr/>
          <p:nvPr/>
        </p:nvSpPr>
        <p:spPr>
          <a:xfrm>
            <a:off x="8077200" y="1402080"/>
            <a:ext cx="3505200" cy="42672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n-US" sz="2400" b="1" dirty="0">
                <a:solidFill>
                  <a:srgbClr val="00205B"/>
                </a:solidFill>
                <a:latin typeface="Helvetica Neue"/>
              </a:rPr>
              <a:t>Corporate Programs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i="1" dirty="0">
                <a:solidFill>
                  <a:srgbClr val="0050AA"/>
                </a:solidFill>
                <a:latin typeface="Calibri"/>
              </a:rPr>
              <a:t>$200M+ regional golf spending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Market St. finance, University City tech, Center City law. </a:t>
            </a:r>
            <a:endParaRPr lang="en-US" sz="1600" dirty="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Structured corporate golf programming co-developed with PGA Pros.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Immediate B2C revenue.</a:t>
            </a:r>
            <a:endParaRPr lang="en-US" sz="1600" dirty="0">
              <a:solidFill>
                <a:srgbClr val="4B5563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D56B48EB-48BE-BCE2-3626-BE192D50A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595" y="0"/>
            <a:ext cx="1503404" cy="127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786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l"/>
          <p:cNvSpPr txBox="1"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1400" b="1">
                <a:solidFill>
                  <a:srgbClr val="0050AA"/>
                </a:solidFill>
                <a:latin typeface="Calibri"/>
              </a:rPr>
              <a:t>FINANCIAL MODEL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2400" b="1">
                <a:solidFill>
                  <a:srgbClr val="00205B"/>
                </a:solidFill>
                <a:latin typeface="Helvetica Neue"/>
              </a:rPr>
              <a:t>Key Assumptions Behind the Numbers</a:t>
            </a:r>
          </a:p>
        </p:txBody>
      </p:sp>
      <p:sp>
        <p:nvSpPr>
          <p:cNvPr id="100" name="Acc0"/>
          <p:cNvSpPr/>
          <p:nvPr/>
        </p:nvSpPr>
        <p:spPr>
          <a:xfrm>
            <a:off x="208722" y="1356361"/>
            <a:ext cx="3906078" cy="45719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Acc1"/>
          <p:cNvSpPr/>
          <p:nvPr/>
        </p:nvSpPr>
        <p:spPr>
          <a:xfrm>
            <a:off x="4244008" y="1356361"/>
            <a:ext cx="3604592" cy="45719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Acc2"/>
          <p:cNvSpPr/>
          <p:nvPr/>
        </p:nvSpPr>
        <p:spPr>
          <a:xfrm>
            <a:off x="8077200" y="1341120"/>
            <a:ext cx="3906078" cy="60960"/>
          </a:xfrm>
          <a:prstGeom prst="rect">
            <a:avLst/>
          </a:prstGeom>
          <a:solidFill>
            <a:srgbClr val="0020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Mkt"/>
          <p:cNvSpPr/>
          <p:nvPr/>
        </p:nvSpPr>
        <p:spPr>
          <a:xfrm>
            <a:off x="208722" y="1402080"/>
            <a:ext cx="3906077" cy="48768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00205B"/>
                </a:solidFill>
                <a:latin typeface="Helvetica Neue"/>
              </a:rPr>
              <a:t>Market &amp; Platform</a:t>
            </a: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900 PGA Pros in Section </a:t>
            </a: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2M+ rounds managed annually in region</a:t>
            </a:r>
            <a:br>
              <a:rPr lang="en-US" sz="1600"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15% </a:t>
            </a:r>
            <a:r>
              <a:rPr lang="en-US" sz="1600">
                <a:solidFill>
                  <a:srgbClr val="4B5563"/>
                </a:solidFill>
                <a:latin typeface="Calibri"/>
              </a:rPr>
              <a:t>pro-onboarding</a:t>
            </a:r>
            <a:r>
              <a:rPr lang="en-US" sz="1600" dirty="0">
                <a:solidFill>
                  <a:srgbClr val="4B5563"/>
                </a:solidFill>
                <a:latin typeface="Calibri"/>
              </a:rPr>
              <a:t> Y1; 65% by Y5</a:t>
            </a:r>
            <a:br>
              <a:rPr lang="en-US" sz="1600"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Avg lesson price: $85 (3% annual escalation)</a:t>
            </a:r>
            <a:br>
              <a:rPr lang="en-US" sz="1600"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12% platform take rate on bookings</a:t>
            </a:r>
            <a:br>
              <a:rPr lang="en-US" sz="1600"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8 lessons/pro/week, 44 teaching weeks/yr</a:t>
            </a:r>
            <a:br>
              <a:rPr lang="en-US" sz="1600"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Consumer LTV/CAC: 10.7x (70% retention)</a:t>
            </a:r>
            <a:br>
              <a:rPr lang="en-US" sz="1600"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$200M+ regional golf spend annually</a:t>
            </a:r>
          </a:p>
        </p:txBody>
      </p:sp>
      <p:sp>
        <p:nvSpPr>
          <p:cNvPr id="20" name="Rev"/>
          <p:cNvSpPr/>
          <p:nvPr/>
        </p:nvSpPr>
        <p:spPr>
          <a:xfrm>
            <a:off x="4244009" y="1402080"/>
            <a:ext cx="3833190" cy="48768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00205B"/>
                </a:solidFill>
                <a:latin typeface="Helvetica Neue"/>
              </a:rPr>
              <a:t>Revenue Projections</a:t>
            </a: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Y1 Revenue: $585K across 4 segments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Y5 Revenue: $4.1M (EBITDA-positive)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Y10 Revenue: $6.9M (23% EBITDA margin)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Platform grows $265K to $2.1M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Corporate grows $188K to $3.6M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Venue: $131K to $526K (8 partners)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Creator: $1K to $709K (70 creators)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Gross margin expands 50% to 57%</a:t>
            </a:r>
          </a:p>
        </p:txBody>
      </p:sp>
      <p:sp>
        <p:nvSpPr>
          <p:cNvPr id="30" name="Inv"/>
          <p:cNvSpPr/>
          <p:nvPr/>
        </p:nvSpPr>
        <p:spPr>
          <a:xfrm>
            <a:off x="8077200" y="1402080"/>
            <a:ext cx="3906078" cy="48768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00205B"/>
                </a:solidFill>
                <a:latin typeface="Helvetica Neue"/>
              </a:rPr>
              <a:t>Growth &amp; Impact</a:t>
            </a: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EBITDA breakeven by Year 4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Cumulative FCF positive by Year 5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DCF enterprise value: $2.7M (avg)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5 corporate clients Y1; 45 by Y5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10 creator pros Y1; 50 by Y5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Corporate LTV/CAC: 91x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500K beginner golfers addressable</a:t>
            </a:r>
            <a:br>
              <a:rPr lang="en-US" sz="1600" dirty="0">
                <a:solidFill>
                  <a:srgbClr val="4B5563"/>
                </a:solidFill>
                <a:latin typeface="Calibri"/>
              </a:rPr>
            </a:br>
            <a:endParaRPr lang="en-US" sz="1600" dirty="0">
              <a:solidFill>
                <a:srgbClr val="4B5563"/>
              </a:solidFill>
              <a:latin typeface="Calibri"/>
            </a:endParaRPr>
          </a:p>
          <a:p>
            <a:pPr marL="182880" indent="-182880" algn="l">
              <a:spcBef>
                <a:spcPts val="200"/>
              </a:spcBef>
              <a:buFont typeface="Calibri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/>
              </a:rPr>
              <a:t>Low capex model (5% of revenue)</a:t>
            </a:r>
          </a:p>
        </p:txBody>
      </p:sp>
      <p:sp>
        <p:nvSpPr>
          <p:cNvPr id="40" name="Src"/>
          <p:cNvSpPr txBox="1"/>
          <p:nvPr/>
        </p:nvSpPr>
        <p:spPr>
          <a:xfrm>
            <a:off x="609600" y="640080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en-US" sz="900" i="1">
                <a:solidFill>
                  <a:srgbClr val="9CA3AF"/>
                </a:solidFill>
                <a:latin typeface="Calibri"/>
              </a:rPr>
              <a:t>Source: Philadelphia PGA Section Financial Model (10-Year DCF)</a:t>
            </a: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B63E5B2-E3C8-438F-AB7A-025B47DCB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595" y="0"/>
            <a:ext cx="1503404" cy="127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04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D4BAEC9-E7C4-EBB4-C180-E0D77EF42C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4311166"/>
              </p:ext>
            </p:extLst>
          </p:nvPr>
        </p:nvGraphicFramePr>
        <p:xfrm>
          <a:off x="438655" y="216928"/>
          <a:ext cx="5841848" cy="2995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1CCE857-6B82-3F9A-C620-5CBAF45FE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5379407"/>
              </p:ext>
            </p:extLst>
          </p:nvPr>
        </p:nvGraphicFramePr>
        <p:xfrm>
          <a:off x="438655" y="3313162"/>
          <a:ext cx="584184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648525A-1AA3-4F2B-F531-2136F7BD27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6981501"/>
              </p:ext>
            </p:extLst>
          </p:nvPr>
        </p:nvGraphicFramePr>
        <p:xfrm>
          <a:off x="6599187" y="720396"/>
          <a:ext cx="4324865" cy="5417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D8E3A9D2-AE17-5BD0-08B7-D4840BABE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9409" y="1"/>
            <a:ext cx="1192590" cy="101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66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1"/>
          <p:cNvSpPr/>
          <p:nvPr/>
        </p:nvSpPr>
        <p:spPr>
          <a:xfrm>
            <a:off x="3048000" y="2057400"/>
            <a:ext cx="6096000" cy="22860"/>
          </a:xfrm>
          <a:prstGeom prst="rect">
            <a:avLst/>
          </a:prstGeom>
          <a:solidFill>
            <a:srgbClr val="E8EDF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1524000" y="2209800"/>
            <a:ext cx="91440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2200" b="1">
                <a:solidFill>
                  <a:srgbClr val="00205B"/>
                </a:solidFill>
                <a:latin typeface="Helvetica Neue"/>
              </a:rPr>
              <a:t>One Metric. Every Strategy Measured Here.</a:t>
            </a:r>
          </a:p>
        </p:txBody>
      </p:sp>
      <p:sp>
        <p:nvSpPr>
          <p:cNvPr id="4" name="Q"/>
          <p:cNvSpPr txBox="1"/>
          <p:nvPr/>
        </p:nvSpPr>
        <p:spPr>
          <a:xfrm>
            <a:off x="1524000" y="2895600"/>
            <a:ext cx="9144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2400" b="1" i="1">
                <a:solidFill>
                  <a:srgbClr val="0050AA"/>
                </a:solidFill>
                <a:latin typeface="Helvetica Neue"/>
              </a:rPr>
              <a:t>How many new golfers did the Philadelphia PGA Section directly create this year?</a:t>
            </a:r>
          </a:p>
        </p:txBody>
      </p:sp>
      <p:sp>
        <p:nvSpPr>
          <p:cNvPr id="5" name="D2"/>
          <p:cNvSpPr/>
          <p:nvPr/>
        </p:nvSpPr>
        <p:spPr>
          <a:xfrm>
            <a:off x="3048000" y="4114800"/>
            <a:ext cx="6096000" cy="22860"/>
          </a:xfrm>
          <a:prstGeom prst="rect">
            <a:avLst/>
          </a:prstGeom>
          <a:solidFill>
            <a:srgbClr val="E8EDF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ub"/>
          <p:cNvSpPr txBox="1"/>
          <p:nvPr/>
        </p:nvSpPr>
        <p:spPr>
          <a:xfrm>
            <a:off x="2286000" y="4343400"/>
            <a:ext cx="76200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200"/>
              </a:lnSpc>
            </a:pPr>
            <a:r>
              <a:rPr lang="en-US" sz="1400">
                <a:solidFill>
                  <a:srgbClr val="6B7280"/>
                </a:solidFill>
                <a:latin typeface="Calibri"/>
              </a:rPr>
              <a:t>Unambiguous. Consumer-facing. Impossible for any other organization to claim. Grows in value every year. Sponsors and donors fund organizations that demonstrate impact</a:t>
            </a:r>
            <a:endParaRPr lang="en-US" sz="140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83D5D22C-B103-FC9C-C25B-390A96BE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595" y="0"/>
            <a:ext cx="1503404" cy="127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80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"/>
          <p:cNvSpPr/>
          <p:nvPr/>
        </p:nvSpPr>
        <p:spPr>
          <a:xfrm>
            <a:off x="609600" y="2590800"/>
            <a:ext cx="3657600" cy="2286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09600" y="152400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600" b="1">
                <a:solidFill>
                  <a:srgbClr val="FFFFFF"/>
                </a:solidFill>
                <a:latin typeface="Helvetica Neue"/>
              </a:rPr>
              <a:t>The Tour Fills Seats.</a:t>
            </a:r>
          </a:p>
          <a:p>
            <a:pPr algn="l">
              <a:buNone/>
            </a:pPr>
            <a:r>
              <a:rPr lang="en-US" sz="3600">
                <a:solidFill>
                  <a:srgbClr val="4A90D9"/>
                </a:solidFill>
                <a:latin typeface="Helvetica Neue"/>
              </a:rPr>
              <a:t>We Fill the Sport.</a:t>
            </a:r>
          </a:p>
        </p:txBody>
      </p:sp>
      <p:sp>
        <p:nvSpPr>
          <p:cNvPr id="4" name="Sub"/>
          <p:cNvSpPr txBox="1"/>
          <p:nvPr/>
        </p:nvSpPr>
        <p:spPr>
          <a:xfrm>
            <a:off x="609600" y="2743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1800">
                <a:solidFill>
                  <a:srgbClr val="A0B4D0"/>
                </a:solidFill>
                <a:latin typeface="Calibri"/>
              </a:rPr>
              <a:t>A Marketing &amp; Communications Strategy for the Philadelphia PGA Section — 2026 and Beyond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0960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1200">
                <a:solidFill>
                  <a:srgbClr val="6B8AB0"/>
                </a:solidFill>
                <a:latin typeface="Calibri"/>
              </a:rPr>
              <a:t>2026 Marketing Crisis Challenge  |  Drexel LeBow College of Business</a:t>
            </a:r>
          </a:p>
        </p:txBody>
      </p:sp>
      <p:pic>
        <p:nvPicPr>
          <p:cNvPr id="9" name="Picture 8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0A7A9EC0-E117-4EEE-A707-0A57E61DF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720" y="3057361"/>
            <a:ext cx="4473318" cy="380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656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GA Minimal">
      <a:dk1>
        <a:srgbClr val="00205B"/>
      </a:dk1>
      <a:lt1>
        <a:srgbClr val="FFFFFF"/>
      </a:lt1>
      <a:dk2>
        <a:srgbClr val="1A1F36"/>
      </a:dk2>
      <a:lt2>
        <a:srgbClr val="F5F7FA"/>
      </a:lt2>
      <a:accent1>
        <a:srgbClr val="00205B"/>
      </a:accent1>
      <a:accent2>
        <a:srgbClr val="0050AA"/>
      </a:accent2>
      <a:accent3>
        <a:srgbClr val="4A90D9"/>
      </a:accent3>
      <a:accent4>
        <a:srgbClr val="E8EDF4"/>
      </a:accent4>
      <a:accent5>
        <a:srgbClr val="1A1F36"/>
      </a:accent5>
      <a:accent6>
        <a:srgbClr val="6B7280"/>
      </a:accent6>
      <a:hlink>
        <a:srgbClr val="467886"/>
      </a:hlink>
      <a:folHlink>
        <a:srgbClr val="96607D"/>
      </a:folHlink>
    </a:clrScheme>
    <a:fontScheme name="PGA Minimal">
      <a:majorFont>
        <a:latin typeface="Helvetica Neue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E7346C-6BE0-1F4E-90A2-A4F87AC89A5C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1143</Words>
  <Application>Microsoft Macintosh PowerPoint</Application>
  <PresentationFormat>Widescreen</PresentationFormat>
  <Paragraphs>156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 Zhang</dc:creator>
  <cp:lastModifiedBy>will Zhang</cp:lastModifiedBy>
  <cp:revision>2</cp:revision>
  <dcterms:created xsi:type="dcterms:W3CDTF">2026-03-06T14:17:13Z</dcterms:created>
  <dcterms:modified xsi:type="dcterms:W3CDTF">2026-03-06T19:24:35Z</dcterms:modified>
</cp:coreProperties>
</file>